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Play"/>
      <p:regular r:id="rId43"/>
      <p:bold r:id="rId44"/>
    </p:embeddedFont>
    <p:embeddedFont>
      <p:font typeface="Poppins"/>
      <p:regular r:id="rId45"/>
      <p:bold r:id="rId46"/>
      <p:italic r:id="rId47"/>
      <p:boldItalic r:id="rId48"/>
    </p:embeddedFont>
    <p:embeddedFont>
      <p:font typeface="Lato"/>
      <p:regular r:id="rId49"/>
      <p:bold r:id="rId50"/>
      <p:italic r:id="rId51"/>
      <p:boldItalic r:id="rId52"/>
    </p:embeddedFont>
    <p:embeddedFont>
      <p:font typeface="Lato Light"/>
      <p:regular r:id="rId53"/>
      <p:bold r:id="rId54"/>
      <p:italic r:id="rId55"/>
      <p:boldItalic r:id="rId56"/>
    </p:embeddedFont>
    <p:embeddedFont>
      <p:font typeface="Poppins Light"/>
      <p:regular r:id="rId57"/>
      <p:bold r:id="rId58"/>
      <p:italic r:id="rId59"/>
      <p:boldItalic r:id="rId60"/>
    </p:embeddedFont>
    <p:embeddedFont>
      <p:font typeface="Open Sans Light"/>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lay-bold.fntdata"/><Relationship Id="rId43" Type="http://schemas.openxmlformats.org/officeDocument/2006/relationships/font" Target="fonts/Play-regular.fntdata"/><Relationship Id="rId46" Type="http://schemas.openxmlformats.org/officeDocument/2006/relationships/font" Target="fonts/Poppins-bold.fntdata"/><Relationship Id="rId45"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boldItalic.fntdata"/><Relationship Id="rId47" Type="http://schemas.openxmlformats.org/officeDocument/2006/relationships/font" Target="fonts/Poppins-italic.fntdata"/><Relationship Id="rId49"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Light-bold.fntdata"/><Relationship Id="rId61" Type="http://schemas.openxmlformats.org/officeDocument/2006/relationships/font" Target="fonts/OpenSansLight-regular.fntdata"/><Relationship Id="rId20" Type="http://schemas.openxmlformats.org/officeDocument/2006/relationships/slide" Target="slides/slide15.xml"/><Relationship Id="rId64" Type="http://schemas.openxmlformats.org/officeDocument/2006/relationships/font" Target="fonts/OpenSansLight-boldItalic.fntdata"/><Relationship Id="rId63" Type="http://schemas.openxmlformats.org/officeDocument/2006/relationships/font" Target="fonts/OpenSansLight-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oppinsLight-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italic.fntdata"/><Relationship Id="rId50" Type="http://schemas.openxmlformats.org/officeDocument/2006/relationships/font" Target="fonts/Lato-bold.fntdata"/><Relationship Id="rId53" Type="http://schemas.openxmlformats.org/officeDocument/2006/relationships/font" Target="fonts/LatoLight-regular.fntdata"/><Relationship Id="rId52" Type="http://schemas.openxmlformats.org/officeDocument/2006/relationships/font" Target="fonts/Lato-boldItalic.fntdata"/><Relationship Id="rId11" Type="http://schemas.openxmlformats.org/officeDocument/2006/relationships/slide" Target="slides/slide6.xml"/><Relationship Id="rId55" Type="http://schemas.openxmlformats.org/officeDocument/2006/relationships/font" Target="fonts/LatoLight-italic.fntdata"/><Relationship Id="rId10" Type="http://schemas.openxmlformats.org/officeDocument/2006/relationships/slide" Target="slides/slide5.xml"/><Relationship Id="rId54" Type="http://schemas.openxmlformats.org/officeDocument/2006/relationships/font" Target="fonts/LatoLight-bold.fntdata"/><Relationship Id="rId13" Type="http://schemas.openxmlformats.org/officeDocument/2006/relationships/slide" Target="slides/slide8.xml"/><Relationship Id="rId57" Type="http://schemas.openxmlformats.org/officeDocument/2006/relationships/font" Target="fonts/PoppinsLight-regular.fntdata"/><Relationship Id="rId12" Type="http://schemas.openxmlformats.org/officeDocument/2006/relationships/slide" Target="slides/slide7.xml"/><Relationship Id="rId56" Type="http://schemas.openxmlformats.org/officeDocument/2006/relationships/font" Target="fonts/LatoLight-boldItalic.fntdata"/><Relationship Id="rId15" Type="http://schemas.openxmlformats.org/officeDocument/2006/relationships/slide" Target="slides/slide10.xml"/><Relationship Id="rId59" Type="http://schemas.openxmlformats.org/officeDocument/2006/relationships/font" Target="fonts/PoppinsLight-italic.fntdata"/><Relationship Id="rId14" Type="http://schemas.openxmlformats.org/officeDocument/2006/relationships/slide" Target="slides/slide9.xml"/><Relationship Id="rId58" Type="http://schemas.openxmlformats.org/officeDocument/2006/relationships/font" Target="fonts/PoppinsLigh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ECECEC"/>
                </a:solidFill>
                <a:highlight>
                  <a:srgbClr val="212121"/>
                </a:highlight>
                <a:latin typeface="Arial"/>
                <a:ea typeface="Arial"/>
                <a:cs typeface="Arial"/>
                <a:sym typeface="Arial"/>
              </a:rPr>
              <a:t>Here are the two points, phrased effectively for presentation:</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Optimizing Patient Outcomes</a:t>
            </a:r>
            <a:r>
              <a:rPr b="0" i="0" lang="en-US">
                <a:solidFill>
                  <a:srgbClr val="ECECEC"/>
                </a:solidFill>
                <a:highlight>
                  <a:srgbClr val="212121"/>
                </a:highlight>
                <a:latin typeface="Arial"/>
                <a:ea typeface="Arial"/>
                <a:cs typeface="Arial"/>
                <a:sym typeface="Arial"/>
              </a:rPr>
              <a:t>: The dashboard enables identification of top-performing doctors by analyzing recovery ratios, which measures successful patient outcomes against total cases treated. This insight is pivotal for recognizing and replicating effective treatment approaches across the healthcare system.</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Financial Efficiency in Patient Care</a:t>
            </a:r>
            <a:r>
              <a:rPr b="0" i="0" lang="en-US">
                <a:solidFill>
                  <a:srgbClr val="ECECEC"/>
                </a:solidFill>
                <a:highlight>
                  <a:srgbClr val="212121"/>
                </a:highlight>
                <a:latin typeface="Arial"/>
                <a:ea typeface="Arial"/>
                <a:cs typeface="Arial"/>
                <a:sym typeface="Arial"/>
              </a:rPr>
              <a:t>: It provides an analytical view into the cost-efficiency of care per physician, revealing the economic impact of treatment methods. This helps in strategizing cost-effective healthcare while maintaining high-quality patient care standards.</a:t>
            </a:r>
            <a:endParaRPr/>
          </a:p>
          <a:p>
            <a:pPr indent="0" lvl="0" marL="0" rtl="0" algn="l">
              <a:spcBef>
                <a:spcPts val="0"/>
              </a:spcBef>
              <a:spcAft>
                <a:spcPts val="0"/>
              </a:spcAft>
              <a:buNone/>
            </a:pPr>
            <a:r>
              <a:t/>
            </a:r>
            <a:endParaRPr/>
          </a:p>
        </p:txBody>
      </p:sp>
      <p:sp>
        <p:nvSpPr>
          <p:cNvPr id="383" name="Google Shape;38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b="0" i="0" lang="en-US">
                <a:solidFill>
                  <a:srgbClr val="ECECEC"/>
                </a:solidFill>
                <a:highlight>
                  <a:srgbClr val="212121"/>
                </a:highlight>
                <a:latin typeface="Arial"/>
                <a:ea typeface="Arial"/>
                <a:cs typeface="Arial"/>
                <a:sym typeface="Arial"/>
              </a:rPr>
            </a:br>
            <a:r>
              <a:rPr b="0" i="0" lang="en-US">
                <a:solidFill>
                  <a:srgbClr val="ECECEC"/>
                </a:solidFill>
                <a:highlight>
                  <a:srgbClr val="212121"/>
                </a:highlight>
                <a:latin typeface="Arial"/>
                <a:ea typeface="Arial"/>
                <a:cs typeface="Arial"/>
                <a:sym typeface="Arial"/>
              </a:rPr>
              <a:t>From this dashboard, we can articulate the following points:</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Prevalence of Conditions</a:t>
            </a:r>
            <a:r>
              <a:rPr b="0" i="0" lang="en-US">
                <a:solidFill>
                  <a:srgbClr val="ECECEC"/>
                </a:solidFill>
                <a:highlight>
                  <a:srgbClr val="212121"/>
                </a:highlight>
                <a:latin typeface="Arial"/>
                <a:ea typeface="Arial"/>
                <a:cs typeface="Arial"/>
                <a:sym typeface="Arial"/>
              </a:rPr>
              <a:t>: The pie chart offers a visual breakdown of patient distribution by medical condition, which can highlight the most prevalent health issues within the patient population. This information is crucial for healthcare providers to allocate resources and plan preventative care initiatives effectively.</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Geographic Health Trends</a:t>
            </a:r>
            <a:r>
              <a:rPr b="0" i="0" lang="en-US">
                <a:solidFill>
                  <a:srgbClr val="ECECEC"/>
                </a:solidFill>
                <a:highlight>
                  <a:srgbClr val="212121"/>
                </a:highlight>
                <a:latin typeface="Arial"/>
                <a:ea typeface="Arial"/>
                <a:cs typeface="Arial"/>
                <a:sym typeface="Arial"/>
              </a:rPr>
              <a:t>: The map illustrates patient distribution across different cities and hospitals, providing insight into regional health trends and the potential need for specialized services in certain areas. It also indicates the patient load on hospitals in various locations, which can inform resource distribution and staffing requirements.</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Demographic Focus</a:t>
            </a:r>
            <a:r>
              <a:rPr b="0" i="0" lang="en-US">
                <a:solidFill>
                  <a:srgbClr val="ECECEC"/>
                </a:solidFill>
                <a:highlight>
                  <a:srgbClr val="212121"/>
                </a:highlight>
                <a:latin typeface="Arial"/>
                <a:ea typeface="Arial"/>
                <a:cs typeface="Arial"/>
                <a:sym typeface="Arial"/>
              </a:rPr>
              <a:t>: By presenting the maximum age range for patients, the dashboard allows for a demographic analysis of the patient base, which can be used to tailor healthcare programs and outreach to specific age groups that are most affected by particular medical conditions.</a:t>
            </a:r>
            <a:endParaRPr/>
          </a:p>
          <a:p>
            <a:pPr indent="0" lvl="0" marL="0" rtl="0" algn="l">
              <a:spcBef>
                <a:spcPts val="0"/>
              </a:spcBef>
              <a:spcAft>
                <a:spcPts val="0"/>
              </a:spcAft>
              <a:buNone/>
            </a:pPr>
            <a:r>
              <a:t/>
            </a:r>
            <a:endParaRPr/>
          </a:p>
        </p:txBody>
      </p:sp>
      <p:sp>
        <p:nvSpPr>
          <p:cNvPr id="395" name="Google Shape;39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ECECEC"/>
                </a:solidFill>
                <a:highlight>
                  <a:srgbClr val="212121"/>
                </a:highlight>
                <a:latin typeface="Arial"/>
                <a:ea typeface="Arial"/>
                <a:cs typeface="Arial"/>
                <a:sym typeface="Arial"/>
              </a:rPr>
              <a:t>For the dashboard displayed, focusing on patient demographics, medical conditions, and outcomes by hospital, here are three concise points:</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Integrated Patient Profiles</a:t>
            </a:r>
            <a:r>
              <a:rPr b="0" i="0" lang="en-US">
                <a:solidFill>
                  <a:srgbClr val="ECECEC"/>
                </a:solidFill>
                <a:highlight>
                  <a:srgbClr val="212121"/>
                </a:highlight>
                <a:latin typeface="Arial"/>
                <a:ea typeface="Arial"/>
                <a:cs typeface="Arial"/>
                <a:sym typeface="Arial"/>
              </a:rPr>
              <a:t>: The dashboard aggregates critical data points such as medical condition prevalence, blood types, and treatment outcomes, segmented by hospital, providing a comprehensive profile of patient demographics and medical history.</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Outcome-Driven Resource Allocation</a:t>
            </a:r>
            <a:r>
              <a:rPr b="0" i="0" lang="en-US">
                <a:solidFill>
                  <a:srgbClr val="ECECEC"/>
                </a:solidFill>
                <a:highlight>
                  <a:srgbClr val="212121"/>
                </a:highlight>
                <a:latin typeface="Arial"/>
                <a:ea typeface="Arial"/>
                <a:cs typeface="Arial"/>
                <a:sym typeface="Arial"/>
              </a:rPr>
              <a:t>: With visual filters for medical conditions and corresponding treatment results, the dashboard enables healthcare administrators to identify trends in treatment effectiveness and potential areas for resource reallocation or further medical training.</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Targeted Treatment Strategies</a:t>
            </a:r>
            <a:r>
              <a:rPr b="0" i="0" lang="en-US">
                <a:solidFill>
                  <a:srgbClr val="ECECEC"/>
                </a:solidFill>
                <a:highlight>
                  <a:srgbClr val="212121"/>
                </a:highlight>
                <a:latin typeface="Arial"/>
                <a:ea typeface="Arial"/>
                <a:cs typeface="Arial"/>
                <a:sym typeface="Arial"/>
              </a:rPr>
              <a:t>: Leveraging detailed breakdowns by blood type and gender, the dashboard empowers medical staff to develop targeted treatment strategies, enhancing personalized care and potentially improving patient outcomes.</a:t>
            </a:r>
            <a:endParaRPr/>
          </a:p>
          <a:p>
            <a:pPr indent="0" lvl="0" marL="0" rtl="0" algn="l">
              <a:spcBef>
                <a:spcPts val="0"/>
              </a:spcBef>
              <a:spcAft>
                <a:spcPts val="0"/>
              </a:spcAft>
              <a:buNone/>
            </a:pPr>
            <a:r>
              <a:t/>
            </a:r>
            <a:endParaRPr/>
          </a:p>
        </p:txBody>
      </p:sp>
      <p:sp>
        <p:nvSpPr>
          <p:cNvPr id="407" name="Google Shape;40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b="0" i="0" lang="en-US">
                <a:solidFill>
                  <a:srgbClr val="ECECEC"/>
                </a:solidFill>
                <a:highlight>
                  <a:srgbClr val="212121"/>
                </a:highlight>
                <a:latin typeface="Arial"/>
                <a:ea typeface="Arial"/>
                <a:cs typeface="Arial"/>
                <a:sym typeface="Arial"/>
              </a:rPr>
            </a:br>
            <a:r>
              <a:rPr b="0" i="0" lang="en-US">
                <a:solidFill>
                  <a:srgbClr val="ECECEC"/>
                </a:solidFill>
                <a:highlight>
                  <a:srgbClr val="212121"/>
                </a:highlight>
                <a:latin typeface="Arial"/>
                <a:ea typeface="Arial"/>
                <a:cs typeface="Arial"/>
                <a:sym typeface="Arial"/>
              </a:rPr>
              <a:t>Based on the dashboard shown, here are three insights that could be drawn:</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Billing and Volume Correlation</a:t>
            </a:r>
            <a:r>
              <a:rPr b="0" i="0" lang="en-US">
                <a:solidFill>
                  <a:srgbClr val="ECECEC"/>
                </a:solidFill>
                <a:highlight>
                  <a:srgbClr val="212121"/>
                </a:highlight>
                <a:latin typeface="Arial"/>
                <a:ea typeface="Arial"/>
                <a:cs typeface="Arial"/>
                <a:sym typeface="Arial"/>
              </a:rPr>
              <a:t>: The line graph demonstrates the relationship between billing amounts and patient volumes over time, offering insights into operational trends, such as whether increased patient numbers correspond to increased billing.</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Utilization Trends</a:t>
            </a:r>
            <a:r>
              <a:rPr b="0" i="0" lang="en-US">
                <a:solidFill>
                  <a:srgbClr val="ECECEC"/>
                </a:solidFill>
                <a:highlight>
                  <a:srgbClr val="212121"/>
                </a:highlight>
                <a:latin typeface="Arial"/>
                <a:ea typeface="Arial"/>
                <a:cs typeface="Arial"/>
                <a:sym typeface="Arial"/>
              </a:rPr>
              <a:t>: By viewing patient count alongside billing data across months, the dashboard highlights potential periods of high and low hospital utilization, which can inform staffing and resource planning.</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Efficiency Metrics</a:t>
            </a:r>
            <a:r>
              <a:rPr b="0" i="0" lang="en-US">
                <a:solidFill>
                  <a:srgbClr val="ECECEC"/>
                </a:solidFill>
                <a:highlight>
                  <a:srgbClr val="212121"/>
                </a:highlight>
                <a:latin typeface="Arial"/>
                <a:ea typeface="Arial"/>
                <a:cs typeface="Arial"/>
                <a:sym typeface="Arial"/>
              </a:rPr>
              <a:t>: The "Average Length of Stay" metric provides a snapshot of hospital efficiency. A lower number might indicate effective patient throughput and resource utilization, while a higher number could suggest areas for process improvement.</a:t>
            </a:r>
            <a:endParaRPr/>
          </a:p>
          <a:p>
            <a:pPr indent="0" lvl="0" marL="0" rtl="0" algn="l">
              <a:spcBef>
                <a:spcPts val="0"/>
              </a:spcBef>
              <a:spcAft>
                <a:spcPts val="0"/>
              </a:spcAft>
              <a:buNone/>
            </a:pPr>
            <a:r>
              <a:t/>
            </a:r>
            <a:endParaRPr/>
          </a:p>
        </p:txBody>
      </p:sp>
      <p:sp>
        <p:nvSpPr>
          <p:cNvPr id="419" name="Google Shape;41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b="0" i="0" lang="en-US">
                <a:solidFill>
                  <a:srgbClr val="ECECEC"/>
                </a:solidFill>
                <a:highlight>
                  <a:srgbClr val="212121"/>
                </a:highlight>
                <a:latin typeface="Arial"/>
                <a:ea typeface="Arial"/>
                <a:cs typeface="Arial"/>
                <a:sym typeface="Arial"/>
              </a:rPr>
            </a:br>
            <a:r>
              <a:rPr b="0" i="0" lang="en-US">
                <a:solidFill>
                  <a:srgbClr val="ECECEC"/>
                </a:solidFill>
                <a:highlight>
                  <a:srgbClr val="212121"/>
                </a:highlight>
                <a:latin typeface="Arial"/>
                <a:ea typeface="Arial"/>
                <a:cs typeface="Arial"/>
                <a:sym typeface="Arial"/>
              </a:rPr>
              <a:t>Based on the visualizations in this dashboard, here are three succinct insights:</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Payment Contributions</a:t>
            </a:r>
            <a:r>
              <a:rPr b="0" i="0" lang="en-US">
                <a:solidFill>
                  <a:srgbClr val="ECECEC"/>
                </a:solidFill>
                <a:highlight>
                  <a:srgbClr val="212121"/>
                </a:highlight>
                <a:latin typeface="Arial"/>
                <a:ea typeface="Arial"/>
                <a:cs typeface="Arial"/>
                <a:sym typeface="Arial"/>
              </a:rPr>
              <a:t>: The bar chart illustrates the comparative financial contributions made by patients and their insurance providers, showcasing which entities bear the greater cost burden.</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Insurance Plan Comparison</a:t>
            </a:r>
            <a:r>
              <a:rPr b="0" i="0" lang="en-US">
                <a:solidFill>
                  <a:srgbClr val="ECECEC"/>
                </a:solidFill>
                <a:highlight>
                  <a:srgbClr val="212121"/>
                </a:highlight>
                <a:latin typeface="Arial"/>
                <a:ea typeface="Arial"/>
                <a:cs typeface="Arial"/>
                <a:sym typeface="Arial"/>
              </a:rPr>
              <a:t>: The treemap highlights the distribution of payments across different insurance plans within each provider, offering insights into which plans contribute most to the revenue and may hint at the popularity or coverage levels of different plans.</a:t>
            </a:r>
            <a:endParaRPr/>
          </a:p>
          <a:p>
            <a:pPr indent="-76200" lvl="0" marL="0" rtl="0" algn="l">
              <a:spcBef>
                <a:spcPts val="0"/>
              </a:spcBef>
              <a:spcAft>
                <a:spcPts val="0"/>
              </a:spcAft>
              <a:buClr>
                <a:srgbClr val="ECECEC"/>
              </a:buClr>
              <a:buSzPts val="1200"/>
              <a:buFont typeface="Calibri"/>
              <a:buAutoNum type="arabicPeriod"/>
            </a:pPr>
            <a:r>
              <a:rPr b="1" i="0" lang="en-US">
                <a:solidFill>
                  <a:srgbClr val="ECECEC"/>
                </a:solidFill>
                <a:highlight>
                  <a:srgbClr val="212121"/>
                </a:highlight>
                <a:latin typeface="Arial"/>
                <a:ea typeface="Arial"/>
                <a:cs typeface="Arial"/>
                <a:sym typeface="Arial"/>
              </a:rPr>
              <a:t>Provider Payment Patterns</a:t>
            </a:r>
            <a:r>
              <a:rPr b="0" i="0" lang="en-US">
                <a:solidFill>
                  <a:srgbClr val="ECECEC"/>
                </a:solidFill>
                <a:highlight>
                  <a:srgbClr val="212121"/>
                </a:highlight>
                <a:latin typeface="Arial"/>
                <a:ea typeface="Arial"/>
                <a:cs typeface="Arial"/>
                <a:sym typeface="Arial"/>
              </a:rPr>
              <a:t>: The combined analysis of both visuals could inform strategies for negotiating with insurance providers, based on their payment patterns and the distribution across various insurance plans.</a:t>
            </a:r>
            <a:endParaRPr/>
          </a:p>
          <a:p>
            <a:pPr indent="0" lvl="0" marL="0" rtl="0" algn="l">
              <a:spcBef>
                <a:spcPts val="0"/>
              </a:spcBef>
              <a:spcAft>
                <a:spcPts val="0"/>
              </a:spcAft>
              <a:buNone/>
            </a:pPr>
            <a:r>
              <a:t/>
            </a:r>
            <a:endParaRPr/>
          </a:p>
        </p:txBody>
      </p:sp>
      <p:sp>
        <p:nvSpPr>
          <p:cNvPr id="431" name="Google Shape;43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18" name="Shape 18"/>
        <p:cNvGrpSpPr/>
        <p:nvPr/>
      </p:nvGrpSpPr>
      <p:grpSpPr>
        <a:xfrm>
          <a:off x="0" y="0"/>
          <a:ext cx="0" cy="0"/>
          <a:chOff x="0" y="0"/>
          <a:chExt cx="0" cy="0"/>
        </a:xfrm>
      </p:grpSpPr>
      <p:cxnSp>
        <p:nvCxnSpPr>
          <p:cNvPr id="19" name="Google Shape;19;p2"/>
          <p:cNvCxnSpPr/>
          <p:nvPr/>
        </p:nvCxnSpPr>
        <p:spPr>
          <a:xfrm flipH="1">
            <a:off x="8462964" y="5848350"/>
            <a:ext cx="3729036" cy="1009650"/>
          </a:xfrm>
          <a:prstGeom prst="straightConnector1">
            <a:avLst/>
          </a:prstGeom>
          <a:noFill/>
          <a:ln cap="flat" cmpd="sng" w="12700">
            <a:solidFill>
              <a:schemeClr val="accent3">
                <a:alpha val="70196"/>
              </a:schemeClr>
            </a:solidFill>
            <a:prstDash val="solid"/>
            <a:miter lim="800000"/>
            <a:headEnd len="sm" w="sm" type="none"/>
            <a:tailEnd len="sm" w="sm" type="none"/>
          </a:ln>
        </p:spPr>
      </p:cxnSp>
      <p:cxnSp>
        <p:nvCxnSpPr>
          <p:cNvPr id="20" name="Google Shape;20;p2"/>
          <p:cNvCxnSpPr/>
          <p:nvPr/>
        </p:nvCxnSpPr>
        <p:spPr>
          <a:xfrm flipH="1">
            <a:off x="11543158" y="1647825"/>
            <a:ext cx="648842" cy="5210175"/>
          </a:xfrm>
          <a:prstGeom prst="straightConnector1">
            <a:avLst/>
          </a:prstGeom>
          <a:noFill/>
          <a:ln cap="flat" cmpd="sng" w="12700">
            <a:solidFill>
              <a:schemeClr val="accent3">
                <a:alpha val="70196"/>
              </a:schemeClr>
            </a:solidFill>
            <a:prstDash val="solid"/>
            <a:miter lim="800000"/>
            <a:headEnd len="sm" w="sm" type="none"/>
            <a:tailEnd len="sm" w="sm" type="none"/>
          </a:ln>
        </p:spPr>
      </p:cxnSp>
      <p:cxnSp>
        <p:nvCxnSpPr>
          <p:cNvPr id="21" name="Google Shape;21;p2"/>
          <p:cNvCxnSpPr/>
          <p:nvPr/>
        </p:nvCxnSpPr>
        <p:spPr>
          <a:xfrm rot="10800000">
            <a:off x="10781554" y="0"/>
            <a:ext cx="1410446" cy="4258340"/>
          </a:xfrm>
          <a:prstGeom prst="straightConnector1">
            <a:avLst/>
          </a:prstGeom>
          <a:noFill/>
          <a:ln cap="flat" cmpd="sng" w="12700">
            <a:solidFill>
              <a:schemeClr val="accent3">
                <a:alpha val="70196"/>
              </a:schemeClr>
            </a:solidFill>
            <a:prstDash val="solid"/>
            <a:miter lim="800000"/>
            <a:headEnd len="sm" w="sm" type="none"/>
            <a:tailEnd len="sm" w="sm" type="none"/>
          </a:ln>
        </p:spPr>
      </p:cxnSp>
      <p:cxnSp>
        <p:nvCxnSpPr>
          <p:cNvPr id="22" name="Google Shape;22;p2"/>
          <p:cNvCxnSpPr/>
          <p:nvPr/>
        </p:nvCxnSpPr>
        <p:spPr>
          <a:xfrm rot="10800000">
            <a:off x="6529388" y="-4763"/>
            <a:ext cx="5662612" cy="931975"/>
          </a:xfrm>
          <a:prstGeom prst="straightConnector1">
            <a:avLst/>
          </a:prstGeom>
          <a:noFill/>
          <a:ln cap="flat" cmpd="sng" w="12700">
            <a:solidFill>
              <a:schemeClr val="accent3">
                <a:alpha val="70196"/>
              </a:schemeClr>
            </a:solidFill>
            <a:prstDash val="solid"/>
            <a:miter lim="800000"/>
            <a:headEnd len="sm" w="sm" type="none"/>
            <a:tailEnd len="sm" w="sm" type="none"/>
          </a:ln>
        </p:spPr>
      </p:cxnSp>
      <p:sp>
        <p:nvSpPr>
          <p:cNvPr id="23" name="Google Shape;23;p2"/>
          <p:cNvSpPr/>
          <p:nvPr>
            <p:ph idx="2" type="pic"/>
          </p:nvPr>
        </p:nvSpPr>
        <p:spPr>
          <a:xfrm>
            <a:off x="3810" y="0"/>
            <a:ext cx="7816995" cy="6858000"/>
          </a:xfrm>
          <a:prstGeom prst="rect">
            <a:avLst/>
          </a:prstGeom>
          <a:solidFill>
            <a:schemeClr val="dk2"/>
          </a:solidFill>
          <a:ln>
            <a:noFill/>
          </a:ln>
        </p:spPr>
      </p:sp>
      <p:sp>
        <p:nvSpPr>
          <p:cNvPr id="24" name="Google Shape;24;p2"/>
          <p:cNvSpPr txBox="1"/>
          <p:nvPr>
            <p:ph type="title"/>
          </p:nvPr>
        </p:nvSpPr>
        <p:spPr>
          <a:xfrm>
            <a:off x="6080992" y="731562"/>
            <a:ext cx="4902843" cy="352677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 type="body"/>
          </p:nvPr>
        </p:nvSpPr>
        <p:spPr>
          <a:xfrm>
            <a:off x="6080992" y="4373217"/>
            <a:ext cx="4902843" cy="17532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40"/>
              <a:buNone/>
              <a:defRPr sz="1800">
                <a:solidFill>
                  <a:schemeClr val="dk1"/>
                </a:solidFill>
              </a:defRPr>
            </a:lvl1pPr>
            <a:lvl2pPr indent="-309880" lvl="1" marL="914400" algn="l">
              <a:lnSpc>
                <a:spcPct val="100000"/>
              </a:lnSpc>
              <a:spcBef>
                <a:spcPts val="1000"/>
              </a:spcBef>
              <a:spcAft>
                <a:spcPts val="0"/>
              </a:spcAft>
              <a:buClr>
                <a:schemeClr val="dk1"/>
              </a:buClr>
              <a:buSzPts val="1280"/>
              <a:buChar char="•"/>
              <a:defRPr sz="1600">
                <a:solidFill>
                  <a:schemeClr val="dk1"/>
                </a:solidFill>
              </a:defRPr>
            </a:lvl2pPr>
            <a:lvl3pPr indent="-299720" lvl="2" marL="1371600" algn="l">
              <a:lnSpc>
                <a:spcPct val="100000"/>
              </a:lnSpc>
              <a:spcBef>
                <a:spcPts val="1000"/>
              </a:spcBef>
              <a:spcAft>
                <a:spcPts val="0"/>
              </a:spcAft>
              <a:buClr>
                <a:schemeClr val="dk1"/>
              </a:buClr>
              <a:buSzPts val="1120"/>
              <a:buChar char="•"/>
              <a:defRPr sz="1400">
                <a:solidFill>
                  <a:schemeClr val="dk1"/>
                </a:solidFill>
              </a:defRPr>
            </a:lvl3pPr>
            <a:lvl4pPr indent="-289560" lvl="3" marL="1828800" algn="l">
              <a:lnSpc>
                <a:spcPct val="100000"/>
              </a:lnSpc>
              <a:spcBef>
                <a:spcPts val="1000"/>
              </a:spcBef>
              <a:spcAft>
                <a:spcPts val="0"/>
              </a:spcAft>
              <a:buClr>
                <a:schemeClr val="dk1"/>
              </a:buClr>
              <a:buSzPts val="960"/>
              <a:buChar char="•"/>
              <a:defRPr sz="1200">
                <a:solidFill>
                  <a:schemeClr val="dk1"/>
                </a:solidFill>
              </a:defRPr>
            </a:lvl4pPr>
            <a:lvl5pPr indent="-289560" lvl="4" marL="2286000" algn="l">
              <a:lnSpc>
                <a:spcPct val="100000"/>
              </a:lnSpc>
              <a:spcBef>
                <a:spcPts val="1000"/>
              </a:spcBef>
              <a:spcAft>
                <a:spcPts val="0"/>
              </a:spcAft>
              <a:buClr>
                <a:schemeClr val="dk1"/>
              </a:buClr>
              <a:buSzPts val="96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26" name="Shape 2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4"/>
          <p:cNvSpPr txBox="1"/>
          <p:nvPr>
            <p:ph type="ctrTitle"/>
          </p:nvPr>
        </p:nvSpPr>
        <p:spPr>
          <a:xfrm>
            <a:off x="1524000" y="1122363"/>
            <a:ext cx="9144000" cy="3025308"/>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2"/>
              </a:buClr>
              <a:buSzPts val="6600"/>
              <a:buFont typeface="Play"/>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subTitle"/>
          </p:nvPr>
        </p:nvSpPr>
        <p:spPr>
          <a:xfrm>
            <a:off x="1524000" y="4386729"/>
            <a:ext cx="9144000" cy="113552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2"/>
              </a:buClr>
              <a:buSzPts val="1440"/>
              <a:buNone/>
              <a:defRPr b="1" sz="1800" cap="none"/>
            </a:lvl1pPr>
            <a:lvl2pPr lvl="1" algn="ctr">
              <a:lnSpc>
                <a:spcPct val="100000"/>
              </a:lnSpc>
              <a:spcBef>
                <a:spcPts val="500"/>
              </a:spcBef>
              <a:spcAft>
                <a:spcPts val="0"/>
              </a:spcAft>
              <a:buClr>
                <a:schemeClr val="dk2"/>
              </a:buClr>
              <a:buSzPts val="1600"/>
              <a:buNone/>
              <a:defRPr sz="2000"/>
            </a:lvl2pPr>
            <a:lvl3pPr lvl="2" algn="ctr">
              <a:lnSpc>
                <a:spcPct val="100000"/>
              </a:lnSpc>
              <a:spcBef>
                <a:spcPts val="500"/>
              </a:spcBef>
              <a:spcAft>
                <a:spcPts val="0"/>
              </a:spcAft>
              <a:buClr>
                <a:schemeClr val="dk2"/>
              </a:buClr>
              <a:buSzPts val="1440"/>
              <a:buNone/>
              <a:defRPr sz="1800"/>
            </a:lvl3pPr>
            <a:lvl4pPr lvl="3" algn="ctr">
              <a:lnSpc>
                <a:spcPct val="100000"/>
              </a:lnSpc>
              <a:spcBef>
                <a:spcPts val="500"/>
              </a:spcBef>
              <a:spcAft>
                <a:spcPts val="0"/>
              </a:spcAft>
              <a:buClr>
                <a:schemeClr val="dk2"/>
              </a:buClr>
              <a:buSzPts val="1280"/>
              <a:buNone/>
              <a:defRPr sz="1600"/>
            </a:lvl4pPr>
            <a:lvl5pPr lvl="4" algn="ctr">
              <a:lnSpc>
                <a:spcPct val="100000"/>
              </a:lnSpc>
              <a:spcBef>
                <a:spcPts val="500"/>
              </a:spcBef>
              <a:spcAft>
                <a:spcPts val="0"/>
              </a:spcAft>
              <a:buClr>
                <a:schemeClr val="dk2"/>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4"/>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4"/>
          <p:cNvSpPr/>
          <p:nvPr/>
        </p:nvSpPr>
        <p:spPr>
          <a:xfrm>
            <a:off x="0" y="-4765"/>
            <a:ext cx="526339" cy="6862763"/>
          </a:xfrm>
          <a:prstGeom prst="rect">
            <a:avLst/>
          </a:prstGeom>
          <a:solidFill>
            <a:srgbClr val="D3C7C9"/>
          </a:solidFill>
          <a:ln cap="flat" cmpd="sng" w="12700">
            <a:solidFill>
              <a:srgbClr val="D3C7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34" name="Google Shape;34;p4"/>
          <p:cNvSpPr/>
          <p:nvPr/>
        </p:nvSpPr>
        <p:spPr>
          <a:xfrm>
            <a:off x="11666935" y="-4764"/>
            <a:ext cx="526339" cy="6862763"/>
          </a:xfrm>
          <a:prstGeom prst="rect">
            <a:avLst/>
          </a:prstGeom>
          <a:solidFill>
            <a:srgbClr val="D3C7C9"/>
          </a:solidFill>
          <a:ln cap="flat" cmpd="sng" w="12700">
            <a:solidFill>
              <a:srgbClr val="D3C7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5"/>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1143000" y="2009554"/>
            <a:ext cx="9906000" cy="4024424"/>
          </a:xfrm>
          <a:prstGeom prst="rect">
            <a:avLst/>
          </a:prstGeom>
          <a:noFill/>
          <a:ln>
            <a:noFill/>
          </a:ln>
        </p:spPr>
        <p:txBody>
          <a:bodyPr anchorCtr="0" anchor="t" bIns="45700" lIns="91425" spcFirstLastPara="1" rIns="91425" wrap="square" tIns="45700">
            <a:normAutofit/>
          </a:bodyPr>
          <a:lstStyle>
            <a:lvl1pPr indent="-350520" lvl="0" marL="457200" algn="l">
              <a:lnSpc>
                <a:spcPct val="100000"/>
              </a:lnSpc>
              <a:spcBef>
                <a:spcPts val="1000"/>
              </a:spcBef>
              <a:spcAft>
                <a:spcPts val="0"/>
              </a:spcAft>
              <a:buClr>
                <a:schemeClr val="dk2"/>
              </a:buClr>
              <a:buSzPts val="1920"/>
              <a:buChar char="•"/>
              <a:defRPr/>
            </a:lvl1pPr>
            <a:lvl2pPr indent="-330200" lvl="1" marL="914400" algn="l">
              <a:lnSpc>
                <a:spcPct val="100000"/>
              </a:lnSpc>
              <a:spcBef>
                <a:spcPts val="500"/>
              </a:spcBef>
              <a:spcAft>
                <a:spcPts val="0"/>
              </a:spcAft>
              <a:buClr>
                <a:schemeClr val="dk2"/>
              </a:buClr>
              <a:buSzPts val="1600"/>
              <a:buChar char="•"/>
              <a:defRPr/>
            </a:lvl2pPr>
            <a:lvl3pPr indent="-320040" lvl="2" marL="1371600" algn="l">
              <a:lnSpc>
                <a:spcPct val="100000"/>
              </a:lnSpc>
              <a:spcBef>
                <a:spcPts val="500"/>
              </a:spcBef>
              <a:spcAft>
                <a:spcPts val="0"/>
              </a:spcAft>
              <a:buClr>
                <a:schemeClr val="dk2"/>
              </a:buClr>
              <a:buSzPts val="1440"/>
              <a:buChar char="•"/>
              <a:defRPr/>
            </a:lvl3pPr>
            <a:lvl4pPr indent="-309880" lvl="3" marL="1828800" algn="l">
              <a:lnSpc>
                <a:spcPct val="100000"/>
              </a:lnSpc>
              <a:spcBef>
                <a:spcPts val="500"/>
              </a:spcBef>
              <a:spcAft>
                <a:spcPts val="0"/>
              </a:spcAft>
              <a:buClr>
                <a:schemeClr val="dk2"/>
              </a:buClr>
              <a:buSzPts val="1280"/>
              <a:buChar char="•"/>
              <a:defRPr/>
            </a:lvl4pPr>
            <a:lvl5pPr indent="-309880" lvl="4" marL="2286000" algn="l">
              <a:lnSpc>
                <a:spcPct val="100000"/>
              </a:lnSpc>
              <a:spcBef>
                <a:spcPts val="500"/>
              </a:spcBef>
              <a:spcAft>
                <a:spcPts val="0"/>
              </a:spcAft>
              <a:buClr>
                <a:schemeClr val="dk2"/>
              </a:buClr>
              <a:buSzPts val="128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888888"/>
              </a:buClr>
              <a:buSzPts val="1920"/>
              <a:buNone/>
              <a:defRPr sz="2400">
                <a:solidFill>
                  <a:srgbClr val="888888"/>
                </a:solidFill>
              </a:defRPr>
            </a:lvl1pPr>
            <a:lvl2pPr indent="-228600" lvl="1" marL="914400" algn="l">
              <a:lnSpc>
                <a:spcPct val="100000"/>
              </a:lnSpc>
              <a:spcBef>
                <a:spcPts val="500"/>
              </a:spcBef>
              <a:spcAft>
                <a:spcPts val="0"/>
              </a:spcAft>
              <a:buClr>
                <a:srgbClr val="888888"/>
              </a:buClr>
              <a:buSzPts val="1600"/>
              <a:buNone/>
              <a:defRPr sz="2000">
                <a:solidFill>
                  <a:srgbClr val="888888"/>
                </a:solidFill>
              </a:defRPr>
            </a:lvl2pPr>
            <a:lvl3pPr indent="-228600" lvl="2" marL="1371600" algn="l">
              <a:lnSpc>
                <a:spcPct val="100000"/>
              </a:lnSpc>
              <a:spcBef>
                <a:spcPts val="500"/>
              </a:spcBef>
              <a:spcAft>
                <a:spcPts val="0"/>
              </a:spcAft>
              <a:buClr>
                <a:srgbClr val="888888"/>
              </a:buClr>
              <a:buSzPts val="1440"/>
              <a:buNone/>
              <a:defRPr sz="1800">
                <a:solidFill>
                  <a:srgbClr val="888888"/>
                </a:solidFill>
              </a:defRPr>
            </a:lvl3pPr>
            <a:lvl4pPr indent="-228600" lvl="3" marL="1828800" algn="l">
              <a:lnSpc>
                <a:spcPct val="100000"/>
              </a:lnSpc>
              <a:spcBef>
                <a:spcPts val="500"/>
              </a:spcBef>
              <a:spcAft>
                <a:spcPts val="0"/>
              </a:spcAft>
              <a:buClr>
                <a:srgbClr val="888888"/>
              </a:buClr>
              <a:buSzPts val="1280"/>
              <a:buNone/>
              <a:defRPr sz="1600">
                <a:solidFill>
                  <a:srgbClr val="888888"/>
                </a:solidFill>
              </a:defRPr>
            </a:lvl4pPr>
            <a:lvl5pPr indent="-228600" lvl="4" marL="2286000" algn="l">
              <a:lnSpc>
                <a:spcPct val="100000"/>
              </a:lnSpc>
              <a:spcBef>
                <a:spcPts val="500"/>
              </a:spcBef>
              <a:spcAft>
                <a:spcPts val="0"/>
              </a:spcAft>
              <a:buClr>
                <a:srgbClr val="888888"/>
              </a:buClr>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6"/>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838200" y="1924493"/>
            <a:ext cx="5181600" cy="425247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2" type="body"/>
          </p:nvPr>
        </p:nvSpPr>
        <p:spPr>
          <a:xfrm>
            <a:off x="6172200" y="1924493"/>
            <a:ext cx="5181600" cy="425247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1" type="body"/>
          </p:nvPr>
        </p:nvSpPr>
        <p:spPr>
          <a:xfrm>
            <a:off x="839788" y="1734325"/>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600"/>
              <a:buNone/>
              <a:defRPr b="1" sz="2000" cap="none"/>
            </a:lvl1pPr>
            <a:lvl2pPr indent="-228600" lvl="1" marL="914400" algn="l">
              <a:lnSpc>
                <a:spcPct val="100000"/>
              </a:lnSpc>
              <a:spcBef>
                <a:spcPts val="500"/>
              </a:spcBef>
              <a:spcAft>
                <a:spcPts val="0"/>
              </a:spcAft>
              <a:buClr>
                <a:schemeClr val="dk2"/>
              </a:buClr>
              <a:buSzPts val="1600"/>
              <a:buNone/>
              <a:defRPr b="1" sz="2000"/>
            </a:lvl2pPr>
            <a:lvl3pPr indent="-228600" lvl="2" marL="1371600" algn="l">
              <a:lnSpc>
                <a:spcPct val="100000"/>
              </a:lnSpc>
              <a:spcBef>
                <a:spcPts val="500"/>
              </a:spcBef>
              <a:spcAft>
                <a:spcPts val="0"/>
              </a:spcAft>
              <a:buClr>
                <a:schemeClr val="dk2"/>
              </a:buClr>
              <a:buSzPts val="1440"/>
              <a:buNone/>
              <a:defRPr b="1" sz="1800"/>
            </a:lvl3pPr>
            <a:lvl4pPr indent="-228600" lvl="3" marL="1828800" algn="l">
              <a:lnSpc>
                <a:spcPct val="100000"/>
              </a:lnSpc>
              <a:spcBef>
                <a:spcPts val="500"/>
              </a:spcBef>
              <a:spcAft>
                <a:spcPts val="0"/>
              </a:spcAft>
              <a:buClr>
                <a:schemeClr val="dk2"/>
              </a:buClr>
              <a:buSzPts val="1280"/>
              <a:buNone/>
              <a:defRPr b="1" sz="1600"/>
            </a:lvl4pPr>
            <a:lvl5pPr indent="-228600" lvl="4" marL="2286000" algn="l">
              <a:lnSpc>
                <a:spcPct val="100000"/>
              </a:lnSpc>
              <a:spcBef>
                <a:spcPts val="500"/>
              </a:spcBef>
              <a:spcAft>
                <a:spcPts val="0"/>
              </a:spcAft>
              <a:buClr>
                <a:schemeClr val="dk2"/>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8"/>
          <p:cNvSpPr txBox="1"/>
          <p:nvPr>
            <p:ph idx="2" type="body"/>
          </p:nvPr>
        </p:nvSpPr>
        <p:spPr>
          <a:xfrm>
            <a:off x="839788" y="2558237"/>
            <a:ext cx="5157787" cy="368458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8"/>
          <p:cNvSpPr txBox="1"/>
          <p:nvPr>
            <p:ph idx="3" type="body"/>
          </p:nvPr>
        </p:nvSpPr>
        <p:spPr>
          <a:xfrm>
            <a:off x="6172200" y="1734325"/>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600"/>
              <a:buNone/>
              <a:defRPr b="1" sz="2000" cap="none"/>
            </a:lvl1pPr>
            <a:lvl2pPr indent="-228600" lvl="1" marL="914400" algn="l">
              <a:lnSpc>
                <a:spcPct val="100000"/>
              </a:lnSpc>
              <a:spcBef>
                <a:spcPts val="500"/>
              </a:spcBef>
              <a:spcAft>
                <a:spcPts val="0"/>
              </a:spcAft>
              <a:buClr>
                <a:schemeClr val="dk2"/>
              </a:buClr>
              <a:buSzPts val="1600"/>
              <a:buNone/>
              <a:defRPr b="1" sz="2000"/>
            </a:lvl2pPr>
            <a:lvl3pPr indent="-228600" lvl="2" marL="1371600" algn="l">
              <a:lnSpc>
                <a:spcPct val="100000"/>
              </a:lnSpc>
              <a:spcBef>
                <a:spcPts val="500"/>
              </a:spcBef>
              <a:spcAft>
                <a:spcPts val="0"/>
              </a:spcAft>
              <a:buClr>
                <a:schemeClr val="dk2"/>
              </a:buClr>
              <a:buSzPts val="1440"/>
              <a:buNone/>
              <a:defRPr b="1" sz="1800"/>
            </a:lvl3pPr>
            <a:lvl4pPr indent="-228600" lvl="3" marL="1828800" algn="l">
              <a:lnSpc>
                <a:spcPct val="100000"/>
              </a:lnSpc>
              <a:spcBef>
                <a:spcPts val="500"/>
              </a:spcBef>
              <a:spcAft>
                <a:spcPts val="0"/>
              </a:spcAft>
              <a:buClr>
                <a:schemeClr val="dk2"/>
              </a:buClr>
              <a:buSzPts val="1280"/>
              <a:buNone/>
              <a:defRPr b="1" sz="1600"/>
            </a:lvl4pPr>
            <a:lvl5pPr indent="-228600" lvl="4" marL="2286000" algn="l">
              <a:lnSpc>
                <a:spcPct val="100000"/>
              </a:lnSpc>
              <a:spcBef>
                <a:spcPts val="500"/>
              </a:spcBef>
              <a:spcAft>
                <a:spcPts val="0"/>
              </a:spcAft>
              <a:buClr>
                <a:schemeClr val="dk2"/>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8"/>
          <p:cNvSpPr txBox="1"/>
          <p:nvPr>
            <p:ph idx="4" type="body"/>
          </p:nvPr>
        </p:nvSpPr>
        <p:spPr>
          <a:xfrm>
            <a:off x="6172200" y="2558237"/>
            <a:ext cx="5183188" cy="368458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8"/>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9"/>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9"/>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10"/>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1000"/>
              </a:spcBef>
              <a:spcAft>
                <a:spcPts val="0"/>
              </a:spcAft>
              <a:buClr>
                <a:schemeClr val="dk2"/>
              </a:buClr>
              <a:buSzPts val="2560"/>
              <a:buChar char="•"/>
              <a:defRPr sz="3200"/>
            </a:lvl1pPr>
            <a:lvl2pPr indent="-370840" lvl="1" marL="914400" algn="l">
              <a:lnSpc>
                <a:spcPct val="100000"/>
              </a:lnSpc>
              <a:spcBef>
                <a:spcPts val="500"/>
              </a:spcBef>
              <a:spcAft>
                <a:spcPts val="0"/>
              </a:spcAft>
              <a:buClr>
                <a:schemeClr val="dk2"/>
              </a:buClr>
              <a:buSzPts val="2240"/>
              <a:buChar char="•"/>
              <a:defRPr sz="2800"/>
            </a:lvl2pPr>
            <a:lvl3pPr indent="-350520" lvl="2" marL="1371600" algn="l">
              <a:lnSpc>
                <a:spcPct val="100000"/>
              </a:lnSpc>
              <a:spcBef>
                <a:spcPts val="500"/>
              </a:spcBef>
              <a:spcAft>
                <a:spcPts val="0"/>
              </a:spcAft>
              <a:buClr>
                <a:schemeClr val="dk2"/>
              </a:buClr>
              <a:buSzPts val="1920"/>
              <a:buChar char="•"/>
              <a:defRPr sz="2400"/>
            </a:lvl3pPr>
            <a:lvl4pPr indent="-330200" lvl="3" marL="1828800" algn="l">
              <a:lnSpc>
                <a:spcPct val="100000"/>
              </a:lnSpc>
              <a:spcBef>
                <a:spcPts val="500"/>
              </a:spcBef>
              <a:spcAft>
                <a:spcPts val="0"/>
              </a:spcAft>
              <a:buClr>
                <a:schemeClr val="dk2"/>
              </a:buClr>
              <a:buSzPts val="1600"/>
              <a:buChar char="•"/>
              <a:defRPr sz="2000"/>
            </a:lvl4pPr>
            <a:lvl5pPr indent="-330200" lvl="4" marL="2286000" algn="l">
              <a:lnSpc>
                <a:spcPct val="100000"/>
              </a:lnSpc>
              <a:spcBef>
                <a:spcPts val="500"/>
              </a:spcBef>
              <a:spcAft>
                <a:spcPts val="0"/>
              </a:spcAft>
              <a:buClr>
                <a:schemeClr val="dk2"/>
              </a:buClr>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280"/>
              <a:buNone/>
              <a:defRPr sz="1600"/>
            </a:lvl1pPr>
            <a:lvl2pPr indent="-228600" lvl="1" marL="914400" algn="l">
              <a:lnSpc>
                <a:spcPct val="100000"/>
              </a:lnSpc>
              <a:spcBef>
                <a:spcPts val="500"/>
              </a:spcBef>
              <a:spcAft>
                <a:spcPts val="0"/>
              </a:spcAft>
              <a:buClr>
                <a:schemeClr val="dk2"/>
              </a:buClr>
              <a:buSzPts val="1120"/>
              <a:buNone/>
              <a:defRPr sz="1400"/>
            </a:lvl2pPr>
            <a:lvl3pPr indent="-228600" lvl="2" marL="1371600" algn="l">
              <a:lnSpc>
                <a:spcPct val="100000"/>
              </a:lnSpc>
              <a:spcBef>
                <a:spcPts val="500"/>
              </a:spcBef>
              <a:spcAft>
                <a:spcPts val="0"/>
              </a:spcAft>
              <a:buClr>
                <a:schemeClr val="dk2"/>
              </a:buClr>
              <a:buSzPts val="960"/>
              <a:buNone/>
              <a:defRPr sz="1200"/>
            </a:lvl3pPr>
            <a:lvl4pPr indent="-228600" lvl="3" marL="1828800" algn="l">
              <a:lnSpc>
                <a:spcPct val="100000"/>
              </a:lnSpc>
              <a:spcBef>
                <a:spcPts val="500"/>
              </a:spcBef>
              <a:spcAft>
                <a:spcPts val="0"/>
              </a:spcAft>
              <a:buClr>
                <a:schemeClr val="dk2"/>
              </a:buClr>
              <a:buSzPts val="800"/>
              <a:buNone/>
              <a:defRPr sz="1000"/>
            </a:lvl4pPr>
            <a:lvl5pPr indent="-228600" lvl="4" marL="2286000" algn="l">
              <a:lnSpc>
                <a:spcPct val="100000"/>
              </a:lnSpc>
              <a:spcBef>
                <a:spcPts val="500"/>
              </a:spcBef>
              <a:spcAft>
                <a:spcPts val="0"/>
              </a:spcAft>
              <a:buClr>
                <a:schemeClr val="dk2"/>
              </a:buClr>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11"/>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p:nvPr>
            <p:ph idx="2" type="pic"/>
          </p:nvPr>
        </p:nvSpPr>
        <p:spPr>
          <a:xfrm>
            <a:off x="5183188" y="987425"/>
            <a:ext cx="6172200" cy="4873625"/>
          </a:xfrm>
          <a:prstGeom prst="rect">
            <a:avLst/>
          </a:prstGeom>
          <a:noFill/>
          <a:ln>
            <a:noFill/>
          </a:ln>
        </p:spPr>
      </p:sp>
      <p:sp>
        <p:nvSpPr>
          <p:cNvPr id="82" name="Google Shape;82;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280"/>
              <a:buNone/>
              <a:defRPr sz="1600"/>
            </a:lvl1pPr>
            <a:lvl2pPr indent="-228600" lvl="1" marL="914400" algn="l">
              <a:lnSpc>
                <a:spcPct val="100000"/>
              </a:lnSpc>
              <a:spcBef>
                <a:spcPts val="500"/>
              </a:spcBef>
              <a:spcAft>
                <a:spcPts val="0"/>
              </a:spcAft>
              <a:buClr>
                <a:schemeClr val="dk2"/>
              </a:buClr>
              <a:buSzPts val="1120"/>
              <a:buNone/>
              <a:defRPr sz="1400"/>
            </a:lvl2pPr>
            <a:lvl3pPr indent="-228600" lvl="2" marL="1371600" algn="l">
              <a:lnSpc>
                <a:spcPct val="100000"/>
              </a:lnSpc>
              <a:spcBef>
                <a:spcPts val="500"/>
              </a:spcBef>
              <a:spcAft>
                <a:spcPts val="0"/>
              </a:spcAft>
              <a:buClr>
                <a:schemeClr val="dk2"/>
              </a:buClr>
              <a:buSzPts val="960"/>
              <a:buNone/>
              <a:defRPr sz="1200"/>
            </a:lvl3pPr>
            <a:lvl4pPr indent="-228600" lvl="3" marL="1828800" algn="l">
              <a:lnSpc>
                <a:spcPct val="100000"/>
              </a:lnSpc>
              <a:spcBef>
                <a:spcPts val="500"/>
              </a:spcBef>
              <a:spcAft>
                <a:spcPts val="0"/>
              </a:spcAft>
              <a:buClr>
                <a:schemeClr val="dk2"/>
              </a:buClr>
              <a:buSzPts val="800"/>
              <a:buNone/>
              <a:defRPr sz="1000"/>
            </a:lvl4pPr>
            <a:lvl5pPr indent="-228600" lvl="4" marL="2286000" algn="l">
              <a:lnSpc>
                <a:spcPct val="100000"/>
              </a:lnSpc>
              <a:spcBef>
                <a:spcPts val="500"/>
              </a:spcBef>
              <a:spcAft>
                <a:spcPts val="0"/>
              </a:spcAft>
              <a:buClr>
                <a:schemeClr val="dk2"/>
              </a:buClr>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12"/>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3"/>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3"/>
          <p:cNvSpPr txBox="1"/>
          <p:nvPr>
            <p:ph idx="1" type="body"/>
          </p:nvPr>
        </p:nvSpPr>
        <p:spPr>
          <a:xfrm rot="5400000">
            <a:off x="4083788" y="-931234"/>
            <a:ext cx="4024424" cy="99060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3"/>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4"/>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4"/>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Play"/>
              <a:buNone/>
              <a:defRPr b="0" i="1" sz="4400" u="none" cap="none" strike="noStrike">
                <a:solidFill>
                  <a:schemeClr val="dk2"/>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143000" y="2009554"/>
            <a:ext cx="9906000" cy="4024424"/>
          </a:xfrm>
          <a:prstGeom prst="rect">
            <a:avLst/>
          </a:prstGeom>
          <a:noFill/>
          <a:ln>
            <a:noFill/>
          </a:ln>
        </p:spPr>
        <p:txBody>
          <a:bodyPr anchorCtr="0" anchor="t" bIns="45700" lIns="91425" spcFirstLastPara="1" rIns="91425" wrap="square" tIns="45700">
            <a:normAutofit/>
          </a:bodyPr>
          <a:lstStyle>
            <a:lvl1pPr indent="-350520" lvl="0" marL="457200" marR="0" rtl="0" algn="l">
              <a:lnSpc>
                <a:spcPct val="100000"/>
              </a:lnSpc>
              <a:spcBef>
                <a:spcPts val="1000"/>
              </a:spcBef>
              <a:spcAft>
                <a:spcPts val="0"/>
              </a:spcAft>
              <a:buClr>
                <a:schemeClr val="dk2"/>
              </a:buClr>
              <a:buSzPts val="1920"/>
              <a:buFont typeface="Arial"/>
              <a:buChar char="•"/>
              <a:defRPr b="0" i="0" sz="2400" u="none" cap="none" strike="noStrike">
                <a:solidFill>
                  <a:schemeClr val="dk2"/>
                </a:solidFill>
                <a:latin typeface="Open Sans Light"/>
                <a:ea typeface="Open Sans Light"/>
                <a:cs typeface="Open Sans Light"/>
                <a:sym typeface="Open Sans Light"/>
              </a:defRPr>
            </a:lvl1pPr>
            <a:lvl2pPr indent="-330200" lvl="1" marL="914400" marR="0" rtl="0" algn="l">
              <a:lnSpc>
                <a:spcPct val="100000"/>
              </a:lnSpc>
              <a:spcBef>
                <a:spcPts val="500"/>
              </a:spcBef>
              <a:spcAft>
                <a:spcPts val="0"/>
              </a:spcAft>
              <a:buClr>
                <a:schemeClr val="dk2"/>
              </a:buClr>
              <a:buSzPts val="1600"/>
              <a:buFont typeface="Arial"/>
              <a:buChar char="•"/>
              <a:defRPr b="0" i="0" sz="2000" u="none" cap="none" strike="noStrike">
                <a:solidFill>
                  <a:schemeClr val="dk2"/>
                </a:solidFill>
                <a:latin typeface="Open Sans Light"/>
                <a:ea typeface="Open Sans Light"/>
                <a:cs typeface="Open Sans Light"/>
                <a:sym typeface="Open Sans Light"/>
              </a:defRPr>
            </a:lvl2pPr>
            <a:lvl3pPr indent="-320040" lvl="2" marL="1371600" marR="0" rtl="0" algn="l">
              <a:lnSpc>
                <a:spcPct val="100000"/>
              </a:lnSpc>
              <a:spcBef>
                <a:spcPts val="500"/>
              </a:spcBef>
              <a:spcAft>
                <a:spcPts val="0"/>
              </a:spcAft>
              <a:buClr>
                <a:schemeClr val="dk2"/>
              </a:buClr>
              <a:buSzPts val="1440"/>
              <a:buFont typeface="Arial"/>
              <a:buChar char="•"/>
              <a:defRPr b="0" i="0" sz="1800" u="none" cap="none" strike="noStrike">
                <a:solidFill>
                  <a:schemeClr val="dk2"/>
                </a:solidFill>
                <a:latin typeface="Open Sans Light"/>
                <a:ea typeface="Open Sans Light"/>
                <a:cs typeface="Open Sans Light"/>
                <a:sym typeface="Open Sans Light"/>
              </a:defRPr>
            </a:lvl3pPr>
            <a:lvl4pPr indent="-309880" lvl="3" marL="1828800" marR="0" rtl="0" algn="l">
              <a:lnSpc>
                <a:spcPct val="100000"/>
              </a:lnSpc>
              <a:spcBef>
                <a:spcPts val="500"/>
              </a:spcBef>
              <a:spcAft>
                <a:spcPts val="0"/>
              </a:spcAft>
              <a:buClr>
                <a:schemeClr val="dk2"/>
              </a:buClr>
              <a:buSzPts val="1280"/>
              <a:buFont typeface="Arial"/>
              <a:buChar char="•"/>
              <a:defRPr b="0" i="0" sz="1600" u="none" cap="none" strike="noStrike">
                <a:solidFill>
                  <a:schemeClr val="dk2"/>
                </a:solidFill>
                <a:latin typeface="Open Sans Light"/>
                <a:ea typeface="Open Sans Light"/>
                <a:cs typeface="Open Sans Light"/>
                <a:sym typeface="Open Sans Light"/>
              </a:defRPr>
            </a:lvl4pPr>
            <a:lvl5pPr indent="-309880" lvl="4" marL="2286000" marR="0" rtl="0" algn="l">
              <a:lnSpc>
                <a:spcPct val="100000"/>
              </a:lnSpc>
              <a:spcBef>
                <a:spcPts val="500"/>
              </a:spcBef>
              <a:spcAft>
                <a:spcPts val="0"/>
              </a:spcAft>
              <a:buClr>
                <a:schemeClr val="dk2"/>
              </a:buClr>
              <a:buSzPts val="1280"/>
              <a:buFont typeface="Arial"/>
              <a:buChar char="•"/>
              <a:defRPr b="0" i="0" sz="1600" u="none" cap="none" strike="noStrike">
                <a:solidFill>
                  <a:schemeClr val="dk2"/>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9pPr>
          </a:lstStyle>
          <a:p/>
        </p:txBody>
      </p:sp>
      <p:sp>
        <p:nvSpPr>
          <p:cNvPr id="12" name="Google Shape;12;p1"/>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SzPts val="1400"/>
              <a:buNone/>
              <a:defRPr b="0" i="0" sz="1100" u="none" cap="none" strike="noStrike">
                <a:solidFill>
                  <a:schemeClr val="dk2"/>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3" name="Google Shape;13;p1"/>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1" i="0" sz="1200" u="none" cap="none" strike="noStrike">
                <a:solidFill>
                  <a:schemeClr val="dk2"/>
                </a:solidFill>
                <a:latin typeface="Play"/>
                <a:ea typeface="Play"/>
                <a:cs typeface="Play"/>
                <a:sym typeface="Play"/>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 name="Google Shape;14;p1"/>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marR="0" rtl="0" algn="r">
              <a:spcBef>
                <a:spcPts val="0"/>
              </a:spcBef>
              <a:buNone/>
              <a:defRPr b="0" i="0" sz="1100" u="none" cap="none" strike="noStrike">
                <a:solidFill>
                  <a:schemeClr val="dk2"/>
                </a:solidFill>
                <a:latin typeface="Open Sans Light"/>
                <a:ea typeface="Open Sans Light"/>
                <a:cs typeface="Open Sans Light"/>
                <a:sym typeface="Open Sans Light"/>
              </a:defRPr>
            </a:lvl1pPr>
            <a:lvl2pPr indent="0" lvl="1" marL="0" marR="0" rtl="0" algn="r">
              <a:spcBef>
                <a:spcPts val="0"/>
              </a:spcBef>
              <a:buNone/>
              <a:defRPr b="0" i="0" sz="1100" u="none" cap="none" strike="noStrike">
                <a:solidFill>
                  <a:schemeClr val="dk2"/>
                </a:solidFill>
                <a:latin typeface="Open Sans Light"/>
                <a:ea typeface="Open Sans Light"/>
                <a:cs typeface="Open Sans Light"/>
                <a:sym typeface="Open Sans Light"/>
              </a:defRPr>
            </a:lvl2pPr>
            <a:lvl3pPr indent="0" lvl="2" marL="0" marR="0" rtl="0" algn="r">
              <a:spcBef>
                <a:spcPts val="0"/>
              </a:spcBef>
              <a:buNone/>
              <a:defRPr b="0" i="0" sz="1100" u="none" cap="none" strike="noStrike">
                <a:solidFill>
                  <a:schemeClr val="dk2"/>
                </a:solidFill>
                <a:latin typeface="Open Sans Light"/>
                <a:ea typeface="Open Sans Light"/>
                <a:cs typeface="Open Sans Light"/>
                <a:sym typeface="Open Sans Light"/>
              </a:defRPr>
            </a:lvl3pPr>
            <a:lvl4pPr indent="0" lvl="3" marL="0" marR="0" rtl="0" algn="r">
              <a:spcBef>
                <a:spcPts val="0"/>
              </a:spcBef>
              <a:buNone/>
              <a:defRPr b="0" i="0" sz="1100" u="none" cap="none" strike="noStrike">
                <a:solidFill>
                  <a:schemeClr val="dk2"/>
                </a:solidFill>
                <a:latin typeface="Open Sans Light"/>
                <a:ea typeface="Open Sans Light"/>
                <a:cs typeface="Open Sans Light"/>
                <a:sym typeface="Open Sans Light"/>
              </a:defRPr>
            </a:lvl4pPr>
            <a:lvl5pPr indent="0" lvl="4" marL="0" marR="0" rtl="0" algn="r">
              <a:spcBef>
                <a:spcPts val="0"/>
              </a:spcBef>
              <a:buNone/>
              <a:defRPr b="0" i="0" sz="1100" u="none" cap="none" strike="noStrike">
                <a:solidFill>
                  <a:schemeClr val="dk2"/>
                </a:solidFill>
                <a:latin typeface="Open Sans Light"/>
                <a:ea typeface="Open Sans Light"/>
                <a:cs typeface="Open Sans Light"/>
                <a:sym typeface="Open Sans Light"/>
              </a:defRPr>
            </a:lvl5pPr>
            <a:lvl6pPr indent="0" lvl="5" marL="0" marR="0" rtl="0" algn="r">
              <a:spcBef>
                <a:spcPts val="0"/>
              </a:spcBef>
              <a:buNone/>
              <a:defRPr b="0" i="0" sz="1100" u="none" cap="none" strike="noStrike">
                <a:solidFill>
                  <a:schemeClr val="dk2"/>
                </a:solidFill>
                <a:latin typeface="Open Sans Light"/>
                <a:ea typeface="Open Sans Light"/>
                <a:cs typeface="Open Sans Light"/>
                <a:sym typeface="Open Sans Light"/>
              </a:defRPr>
            </a:lvl6pPr>
            <a:lvl7pPr indent="0" lvl="6" marL="0" marR="0" rtl="0" algn="r">
              <a:spcBef>
                <a:spcPts val="0"/>
              </a:spcBef>
              <a:buNone/>
              <a:defRPr b="0" i="0" sz="1100" u="none" cap="none" strike="noStrike">
                <a:solidFill>
                  <a:schemeClr val="dk2"/>
                </a:solidFill>
                <a:latin typeface="Open Sans Light"/>
                <a:ea typeface="Open Sans Light"/>
                <a:cs typeface="Open Sans Light"/>
                <a:sym typeface="Open Sans Light"/>
              </a:defRPr>
            </a:lvl7pPr>
            <a:lvl8pPr indent="0" lvl="7" marL="0" marR="0" rtl="0" algn="r">
              <a:spcBef>
                <a:spcPts val="0"/>
              </a:spcBef>
              <a:buNone/>
              <a:defRPr b="0" i="0" sz="1100" u="none" cap="none" strike="noStrike">
                <a:solidFill>
                  <a:schemeClr val="dk2"/>
                </a:solidFill>
                <a:latin typeface="Open Sans Light"/>
                <a:ea typeface="Open Sans Light"/>
                <a:cs typeface="Open Sans Light"/>
                <a:sym typeface="Open Sans Light"/>
              </a:defRPr>
            </a:lvl8pPr>
            <a:lvl9pPr indent="0" lvl="8" marL="0" marR="0" rtl="0" algn="r">
              <a:spcBef>
                <a:spcPts val="0"/>
              </a:spcBef>
              <a:buNone/>
              <a:defRPr b="0" i="0" sz="1100" u="none" cap="none" strike="noStrik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p:nvPr/>
        </p:nvSpPr>
        <p:spPr>
          <a:xfrm>
            <a:off x="0" y="-4765"/>
            <a:ext cx="526339" cy="6862763"/>
          </a:xfrm>
          <a:prstGeom prst="rect">
            <a:avLst/>
          </a:prstGeom>
          <a:solidFill>
            <a:srgbClr val="D3C7C9"/>
          </a:solidFill>
          <a:ln cap="flat" cmpd="sng" w="12700">
            <a:solidFill>
              <a:srgbClr val="D3C7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6" name="Google Shape;16;p1"/>
          <p:cNvSpPr/>
          <p:nvPr/>
        </p:nvSpPr>
        <p:spPr>
          <a:xfrm>
            <a:off x="11666935" y="-4764"/>
            <a:ext cx="526339" cy="6862763"/>
          </a:xfrm>
          <a:prstGeom prst="rect">
            <a:avLst/>
          </a:prstGeom>
          <a:solidFill>
            <a:srgbClr val="D3C7C9"/>
          </a:solidFill>
          <a:ln cap="flat" cmpd="sng" w="12700">
            <a:solidFill>
              <a:srgbClr val="D3C7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A logo of a sports team&#10;&#10;Description automatically generated" id="17" name="Google Shape;17;p1"/>
          <p:cNvPicPr preferRelativeResize="0"/>
          <p:nvPr/>
        </p:nvPicPr>
        <p:blipFill rotWithShape="1">
          <a:blip r:embed="rId1">
            <a:alphaModFix/>
          </a:blip>
          <a:srcRect b="0" l="0" r="0" t="0"/>
          <a:stretch/>
        </p:blipFill>
        <p:spPr>
          <a:xfrm>
            <a:off x="9930841" y="-34355"/>
            <a:ext cx="1967789" cy="85837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3.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8.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0.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8.png"/><Relationship Id="rId4" Type="http://schemas.openxmlformats.org/officeDocument/2006/relationships/image" Target="../media/image52.png"/><Relationship Id="rId5"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cxnSp>
        <p:nvCxnSpPr>
          <p:cNvPr id="103" name="Google Shape;103;p15"/>
          <p:cNvCxnSpPr/>
          <p:nvPr/>
        </p:nvCxnSpPr>
        <p:spPr>
          <a:xfrm flipH="1">
            <a:off x="0" y="0"/>
            <a:ext cx="3119718" cy="68580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4" name="Google Shape;104;p15"/>
          <p:cNvCxnSpPr/>
          <p:nvPr/>
        </p:nvCxnSpPr>
        <p:spPr>
          <a:xfrm flipH="1">
            <a:off x="0" y="0"/>
            <a:ext cx="903768" cy="65436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5" name="Google Shape;105;p15"/>
          <p:cNvCxnSpPr/>
          <p:nvPr/>
        </p:nvCxnSpPr>
        <p:spPr>
          <a:xfrm rot="10800000">
            <a:off x="-42863" y="5791200"/>
            <a:ext cx="6286501" cy="1066801"/>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6" name="Google Shape;106;p15"/>
          <p:cNvCxnSpPr/>
          <p:nvPr/>
        </p:nvCxnSpPr>
        <p:spPr>
          <a:xfrm flipH="1">
            <a:off x="8462964" y="5848350"/>
            <a:ext cx="3729036" cy="100965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7" name="Google Shape;107;p15"/>
          <p:cNvCxnSpPr/>
          <p:nvPr/>
        </p:nvCxnSpPr>
        <p:spPr>
          <a:xfrm flipH="1">
            <a:off x="11543158" y="1647825"/>
            <a:ext cx="648842" cy="52101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8" name="Google Shape;108;p15"/>
          <p:cNvCxnSpPr/>
          <p:nvPr/>
        </p:nvCxnSpPr>
        <p:spPr>
          <a:xfrm rot="10800000">
            <a:off x="10781554" y="0"/>
            <a:ext cx="1410446" cy="425834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09" name="Google Shape;109;p15"/>
          <p:cNvCxnSpPr/>
          <p:nvPr/>
        </p:nvCxnSpPr>
        <p:spPr>
          <a:xfrm rot="10800000">
            <a:off x="6529388" y="-4763"/>
            <a:ext cx="5662612" cy="931975"/>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110" name="Google Shape;110;p15"/>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Brain with a stethoscope" id="111" name="Google Shape;111;p15"/>
          <p:cNvPicPr preferRelativeResize="0"/>
          <p:nvPr>
            <p:ph idx="2" type="pic"/>
          </p:nvPr>
        </p:nvPicPr>
        <p:blipFill rotWithShape="1">
          <a:blip r:embed="rId3">
            <a:alphaModFix/>
          </a:blip>
          <a:srcRect b="2180" l="0" r="0" t="22820"/>
          <a:stretch/>
        </p:blipFill>
        <p:spPr>
          <a:xfrm>
            <a:off x="20" y="10"/>
            <a:ext cx="12191979" cy="6857989"/>
          </a:xfrm>
          <a:prstGeom prst="rect">
            <a:avLst/>
          </a:prstGeom>
          <a:solidFill>
            <a:schemeClr val="dk2"/>
          </a:solidFill>
          <a:ln>
            <a:noFill/>
          </a:ln>
        </p:spPr>
      </p:pic>
      <p:sp>
        <p:nvSpPr>
          <p:cNvPr id="112" name="Google Shape;112;p15"/>
          <p:cNvSpPr/>
          <p:nvPr/>
        </p:nvSpPr>
        <p:spPr>
          <a:xfrm>
            <a:off x="0" y="5690"/>
            <a:ext cx="8521995" cy="6858000"/>
          </a:xfrm>
          <a:prstGeom prst="rect">
            <a:avLst/>
          </a:prstGeom>
          <a:gradFill>
            <a:gsLst>
              <a:gs pos="0">
                <a:srgbClr val="000000">
                  <a:alpha val="0"/>
                </a:srgbClr>
              </a:gs>
              <a:gs pos="33000">
                <a:srgbClr val="000000">
                  <a:alpha val="20000"/>
                </a:srgbClr>
              </a:gs>
              <a:gs pos="58000">
                <a:srgbClr val="000000">
                  <a:alpha val="30196"/>
                </a:srgbClr>
              </a:gs>
              <a:gs pos="100000">
                <a:srgbClr val="000000">
                  <a:alpha val="30196"/>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13" name="Google Shape;113;p15"/>
          <p:cNvSpPr txBox="1"/>
          <p:nvPr>
            <p:ph type="title"/>
          </p:nvPr>
        </p:nvSpPr>
        <p:spPr>
          <a:xfrm>
            <a:off x="689863" y="3549700"/>
            <a:ext cx="10812300" cy="32028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600"/>
              <a:buFont typeface="Poppins"/>
              <a:buNone/>
            </a:pPr>
            <a:r>
              <a:rPr b="1" i="0" lang="en-US" sz="6200">
                <a:solidFill>
                  <a:srgbClr val="FFFFFF"/>
                </a:solidFill>
                <a:latin typeface="Poppins"/>
                <a:ea typeface="Poppins"/>
                <a:cs typeface="Poppins"/>
                <a:sym typeface="Poppins"/>
              </a:rPr>
              <a:t>HEALTHCARE DATA PIPELINE &amp; ANALYTICS</a:t>
            </a:r>
            <a:endParaRPr sz="4000"/>
          </a:p>
        </p:txBody>
      </p:sp>
      <p:cxnSp>
        <p:nvCxnSpPr>
          <p:cNvPr id="114" name="Google Shape;114;p15"/>
          <p:cNvCxnSpPr/>
          <p:nvPr/>
        </p:nvCxnSpPr>
        <p:spPr>
          <a:xfrm flipH="1" rot="10800000">
            <a:off x="9339206" y="3065930"/>
            <a:ext cx="2852793" cy="379776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15" name="Google Shape;115;p15"/>
          <p:cNvCxnSpPr/>
          <p:nvPr/>
        </p:nvCxnSpPr>
        <p:spPr>
          <a:xfrm flipH="1" rot="10800000">
            <a:off x="10172700" y="0"/>
            <a:ext cx="1358310" cy="6858000"/>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116" name="Google Shape;116;p15"/>
          <p:cNvSpPr txBox="1"/>
          <p:nvPr/>
        </p:nvSpPr>
        <p:spPr>
          <a:xfrm>
            <a:off x="4867300" y="6139915"/>
            <a:ext cx="2255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p:nvPr/>
        </p:nvSpPr>
        <p:spPr>
          <a:xfrm>
            <a:off x="2294264" y="2776280"/>
            <a:ext cx="6840342" cy="1209360"/>
          </a:xfrm>
          <a:prstGeom prst="roundRect">
            <a:avLst>
              <a:gd fmla="val 14305" name="adj"/>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2" name="Google Shape;122;p16"/>
          <p:cNvSpPr/>
          <p:nvPr/>
        </p:nvSpPr>
        <p:spPr>
          <a:xfrm rot="5400000">
            <a:off x="9339737" y="3008394"/>
            <a:ext cx="599921" cy="773704"/>
          </a:xfrm>
          <a:custGeom>
            <a:rect b="b" l="l" r="r" t="t"/>
            <a:pathLst>
              <a:path extrusionOk="0" h="738186" w="600077">
                <a:moveTo>
                  <a:pt x="0" y="643352"/>
                </a:moveTo>
                <a:lnTo>
                  <a:pt x="0" y="243151"/>
                </a:lnTo>
                <a:cubicBezTo>
                  <a:pt x="0" y="108862"/>
                  <a:pt x="108862" y="0"/>
                  <a:pt x="243151" y="0"/>
                </a:cubicBezTo>
                <a:lnTo>
                  <a:pt x="356926" y="0"/>
                </a:lnTo>
                <a:cubicBezTo>
                  <a:pt x="491215" y="0"/>
                  <a:pt x="600077" y="108862"/>
                  <a:pt x="600077" y="243151"/>
                </a:cubicBezTo>
                <a:lnTo>
                  <a:pt x="600077" y="643352"/>
                </a:lnTo>
                <a:cubicBezTo>
                  <a:pt x="600077" y="676924"/>
                  <a:pt x="593273" y="708907"/>
                  <a:pt x="580969" y="737998"/>
                </a:cubicBezTo>
                <a:lnTo>
                  <a:pt x="580867" y="738186"/>
                </a:lnTo>
                <a:lnTo>
                  <a:pt x="19210" y="738185"/>
                </a:lnTo>
                <a:lnTo>
                  <a:pt x="19108" y="737998"/>
                </a:lnTo>
                <a:cubicBezTo>
                  <a:pt x="6804" y="708907"/>
                  <a:pt x="0" y="676924"/>
                  <a:pt x="0" y="643352"/>
                </a:cubicBezTo>
                <a:close/>
              </a:path>
            </a:pathLst>
          </a:cu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3" name="Google Shape;123;p16"/>
          <p:cNvSpPr/>
          <p:nvPr/>
        </p:nvSpPr>
        <p:spPr>
          <a:xfrm>
            <a:off x="9134606" y="2954261"/>
            <a:ext cx="158709" cy="890128"/>
          </a:xfrm>
          <a:prstGeom prst="roundRect">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4" name="Google Shape;124;p16"/>
          <p:cNvSpPr/>
          <p:nvPr/>
        </p:nvSpPr>
        <p:spPr>
          <a:xfrm>
            <a:off x="2424145" y="2885973"/>
            <a:ext cx="1310934" cy="10093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5" name="Google Shape;125;p16"/>
          <p:cNvSpPr/>
          <p:nvPr/>
        </p:nvSpPr>
        <p:spPr>
          <a:xfrm>
            <a:off x="3697248" y="2891855"/>
            <a:ext cx="1352199" cy="100938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6" name="Google Shape;126;p16"/>
          <p:cNvSpPr/>
          <p:nvPr/>
        </p:nvSpPr>
        <p:spPr>
          <a:xfrm>
            <a:off x="5046272" y="2891855"/>
            <a:ext cx="1314107" cy="1009386"/>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7" name="Google Shape;127;p16"/>
          <p:cNvSpPr/>
          <p:nvPr/>
        </p:nvSpPr>
        <p:spPr>
          <a:xfrm>
            <a:off x="6385713" y="2894632"/>
            <a:ext cx="1352199" cy="100938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8" name="Google Shape;128;p16"/>
          <p:cNvSpPr/>
          <p:nvPr/>
        </p:nvSpPr>
        <p:spPr>
          <a:xfrm rot="5400000">
            <a:off x="7868110" y="2733145"/>
            <a:ext cx="1009386" cy="1326807"/>
          </a:xfrm>
          <a:prstGeom prst="round2SameRect">
            <a:avLst>
              <a:gd fmla="val 12139" name="adj1"/>
              <a:gd fmla="val 0" name="adj2"/>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29" name="Google Shape;129;p16"/>
          <p:cNvSpPr/>
          <p:nvPr/>
        </p:nvSpPr>
        <p:spPr>
          <a:xfrm>
            <a:off x="1092840" y="3022913"/>
            <a:ext cx="976059" cy="738948"/>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30" name="Google Shape;130;p16"/>
          <p:cNvSpPr/>
          <p:nvPr/>
        </p:nvSpPr>
        <p:spPr>
          <a:xfrm>
            <a:off x="10026551" y="3348805"/>
            <a:ext cx="1267235" cy="113098"/>
          </a:xfrm>
          <a:custGeom>
            <a:rect b="b" l="l" r="r" t="t"/>
            <a:pathLst>
              <a:path extrusionOk="0" h="116680" w="1854109">
                <a:moveTo>
                  <a:pt x="0" y="0"/>
                </a:moveTo>
                <a:lnTo>
                  <a:pt x="1753708" y="0"/>
                </a:lnTo>
                <a:lnTo>
                  <a:pt x="1854109" y="116680"/>
                </a:lnTo>
                <a:lnTo>
                  <a:pt x="0" y="116680"/>
                </a:lnTo>
                <a:lnTo>
                  <a:pt x="0" y="0"/>
                </a:lnTo>
                <a:close/>
              </a:path>
            </a:pathLst>
          </a:cu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856869"/>
              </a:solidFill>
              <a:latin typeface="Open Sans Light"/>
              <a:ea typeface="Open Sans Light"/>
              <a:cs typeface="Open Sans Light"/>
              <a:sym typeface="Open Sans Light"/>
            </a:endParaRPr>
          </a:p>
        </p:txBody>
      </p:sp>
      <p:sp>
        <p:nvSpPr>
          <p:cNvPr id="131" name="Google Shape;131;p16"/>
          <p:cNvSpPr/>
          <p:nvPr/>
        </p:nvSpPr>
        <p:spPr>
          <a:xfrm>
            <a:off x="11873777" y="2947793"/>
            <a:ext cx="6399" cy="3163"/>
          </a:xfrm>
          <a:custGeom>
            <a:rect b="b" l="l" r="r" t="t"/>
            <a:pathLst>
              <a:path extrusionOk="0" h="3164" w="6400">
                <a:moveTo>
                  <a:pt x="0" y="0"/>
                </a:moveTo>
                <a:lnTo>
                  <a:pt x="6400" y="0"/>
                </a:lnTo>
                <a:lnTo>
                  <a:pt x="2723" y="3164"/>
                </a:lnTo>
                <a:lnTo>
                  <a:pt x="0" y="0"/>
                </a:lnTo>
                <a:close/>
              </a:path>
            </a:pathLst>
          </a:cu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856869"/>
              </a:solidFill>
              <a:latin typeface="Open Sans Light"/>
              <a:ea typeface="Open Sans Light"/>
              <a:cs typeface="Open Sans Light"/>
              <a:sym typeface="Open Sans Light"/>
            </a:endParaRPr>
          </a:p>
        </p:txBody>
      </p:sp>
      <p:sp>
        <p:nvSpPr>
          <p:cNvPr id="132" name="Google Shape;132;p16"/>
          <p:cNvSpPr/>
          <p:nvPr/>
        </p:nvSpPr>
        <p:spPr>
          <a:xfrm>
            <a:off x="775424" y="2419638"/>
            <a:ext cx="317417" cy="1932618"/>
          </a:xfrm>
          <a:prstGeom prst="roundRect">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33" name="Google Shape;133;p16"/>
          <p:cNvSpPr/>
          <p:nvPr/>
        </p:nvSpPr>
        <p:spPr>
          <a:xfrm>
            <a:off x="2068899" y="2425987"/>
            <a:ext cx="317417" cy="1932618"/>
          </a:xfrm>
          <a:prstGeom prst="roundRect">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chemeClr val="lt1"/>
              </a:solidFill>
              <a:latin typeface="Open Sans Light"/>
              <a:ea typeface="Open Sans Light"/>
              <a:cs typeface="Open Sans Light"/>
              <a:sym typeface="Open Sans Light"/>
            </a:endParaRPr>
          </a:p>
        </p:txBody>
      </p:sp>
      <p:sp>
        <p:nvSpPr>
          <p:cNvPr id="134" name="Google Shape;134;p16"/>
          <p:cNvSpPr txBox="1"/>
          <p:nvPr/>
        </p:nvSpPr>
        <p:spPr>
          <a:xfrm>
            <a:off x="4747743" y="267409"/>
            <a:ext cx="236955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AGENDA</a:t>
            </a:r>
            <a:endParaRPr/>
          </a:p>
        </p:txBody>
      </p:sp>
      <p:sp>
        <p:nvSpPr>
          <p:cNvPr id="135" name="Google Shape;135;p16"/>
          <p:cNvSpPr/>
          <p:nvPr/>
        </p:nvSpPr>
        <p:spPr>
          <a:xfrm>
            <a:off x="2695281" y="3006327"/>
            <a:ext cx="731163" cy="731163"/>
          </a:xfrm>
          <a:custGeom>
            <a:rect b="b" l="l" r="r" t="t"/>
            <a:pathLst>
              <a:path extrusionOk="0" h="294642" w="294916">
                <a:moveTo>
                  <a:pt x="23812" y="210689"/>
                </a:moveTo>
                <a:cubicBezTo>
                  <a:pt x="26010" y="210689"/>
                  <a:pt x="28208" y="212806"/>
                  <a:pt x="28208" y="215275"/>
                </a:cubicBezTo>
                <a:cubicBezTo>
                  <a:pt x="28208" y="217745"/>
                  <a:pt x="26010" y="219861"/>
                  <a:pt x="23812" y="219861"/>
                </a:cubicBezTo>
                <a:cubicBezTo>
                  <a:pt x="21248" y="219861"/>
                  <a:pt x="19050" y="217745"/>
                  <a:pt x="19050" y="215275"/>
                </a:cubicBezTo>
                <a:cubicBezTo>
                  <a:pt x="19050" y="212806"/>
                  <a:pt x="21248" y="210689"/>
                  <a:pt x="23812" y="210689"/>
                </a:cubicBezTo>
                <a:close/>
                <a:moveTo>
                  <a:pt x="265784" y="209647"/>
                </a:moveTo>
                <a:cubicBezTo>
                  <a:pt x="263626" y="208566"/>
                  <a:pt x="252477" y="213248"/>
                  <a:pt x="244205" y="216850"/>
                </a:cubicBezTo>
                <a:cubicBezTo>
                  <a:pt x="234494" y="221171"/>
                  <a:pt x="222266" y="226214"/>
                  <a:pt x="207880" y="230535"/>
                </a:cubicBezTo>
                <a:cubicBezTo>
                  <a:pt x="208239" y="232336"/>
                  <a:pt x="208239" y="234857"/>
                  <a:pt x="208239" y="237378"/>
                </a:cubicBezTo>
                <a:cubicBezTo>
                  <a:pt x="208239" y="238459"/>
                  <a:pt x="207880" y="239899"/>
                  <a:pt x="207160" y="241700"/>
                </a:cubicBezTo>
                <a:cubicBezTo>
                  <a:pt x="231257" y="235577"/>
                  <a:pt x="248161" y="228374"/>
                  <a:pt x="260389" y="223332"/>
                </a:cubicBezTo>
                <a:cubicBezTo>
                  <a:pt x="261468" y="222612"/>
                  <a:pt x="262187" y="222252"/>
                  <a:pt x="263266" y="221892"/>
                </a:cubicBezTo>
                <a:cubicBezTo>
                  <a:pt x="266503" y="219011"/>
                  <a:pt x="268301" y="215769"/>
                  <a:pt x="268301" y="213608"/>
                </a:cubicBezTo>
                <a:cubicBezTo>
                  <a:pt x="268301" y="213248"/>
                  <a:pt x="268301" y="211808"/>
                  <a:pt x="265784" y="209647"/>
                </a:cubicBezTo>
                <a:close/>
                <a:moveTo>
                  <a:pt x="46395" y="200643"/>
                </a:moveTo>
                <a:lnTo>
                  <a:pt x="46395" y="273393"/>
                </a:lnTo>
                <a:cubicBezTo>
                  <a:pt x="66895" y="279516"/>
                  <a:pt x="187379" y="311929"/>
                  <a:pt x="278731" y="239179"/>
                </a:cubicBezTo>
                <a:cubicBezTo>
                  <a:pt x="280529" y="238099"/>
                  <a:pt x="285565" y="233417"/>
                  <a:pt x="285924" y="229815"/>
                </a:cubicBezTo>
                <a:cubicBezTo>
                  <a:pt x="285924" y="228735"/>
                  <a:pt x="285565" y="227294"/>
                  <a:pt x="283407" y="225493"/>
                </a:cubicBezTo>
                <a:cubicBezTo>
                  <a:pt x="281608" y="223693"/>
                  <a:pt x="272977" y="227654"/>
                  <a:pt x="263626" y="231256"/>
                </a:cubicBezTo>
                <a:cubicBezTo>
                  <a:pt x="248880" y="237738"/>
                  <a:pt x="226941" y="247102"/>
                  <a:pt x="193493" y="253945"/>
                </a:cubicBezTo>
                <a:cubicBezTo>
                  <a:pt x="186300" y="256466"/>
                  <a:pt x="175870" y="257907"/>
                  <a:pt x="162563" y="257907"/>
                </a:cubicBezTo>
                <a:cubicBezTo>
                  <a:pt x="151054" y="257907"/>
                  <a:pt x="137747" y="256826"/>
                  <a:pt x="122641" y="255026"/>
                </a:cubicBezTo>
                <a:cubicBezTo>
                  <a:pt x="120124" y="254665"/>
                  <a:pt x="118326" y="252504"/>
                  <a:pt x="118685" y="249983"/>
                </a:cubicBezTo>
                <a:cubicBezTo>
                  <a:pt x="119045" y="247823"/>
                  <a:pt x="121203" y="246022"/>
                  <a:pt x="123720" y="246022"/>
                </a:cubicBezTo>
                <a:cubicBezTo>
                  <a:pt x="164002" y="251424"/>
                  <a:pt x="182344" y="248543"/>
                  <a:pt x="190976" y="245301"/>
                </a:cubicBezTo>
                <a:cubicBezTo>
                  <a:pt x="198888" y="242060"/>
                  <a:pt x="199248" y="238099"/>
                  <a:pt x="199248" y="236658"/>
                </a:cubicBezTo>
                <a:cubicBezTo>
                  <a:pt x="199608" y="231256"/>
                  <a:pt x="198529" y="227294"/>
                  <a:pt x="196011" y="224773"/>
                </a:cubicBezTo>
                <a:cubicBezTo>
                  <a:pt x="192774" y="221532"/>
                  <a:pt x="187379" y="221532"/>
                  <a:pt x="187379" y="221532"/>
                </a:cubicBezTo>
                <a:cubicBezTo>
                  <a:pt x="143861" y="222252"/>
                  <a:pt x="135589" y="217570"/>
                  <a:pt x="126598" y="212528"/>
                </a:cubicBezTo>
                <a:cubicBezTo>
                  <a:pt x="117606" y="207126"/>
                  <a:pt x="107536" y="201003"/>
                  <a:pt x="46395" y="200643"/>
                </a:cubicBezTo>
                <a:close/>
                <a:moveTo>
                  <a:pt x="8991" y="200643"/>
                </a:moveTo>
                <a:lnTo>
                  <a:pt x="8991" y="272313"/>
                </a:lnTo>
                <a:lnTo>
                  <a:pt x="37404" y="272313"/>
                </a:lnTo>
                <a:lnTo>
                  <a:pt x="37404" y="200643"/>
                </a:lnTo>
                <a:lnTo>
                  <a:pt x="8991" y="200643"/>
                </a:lnTo>
                <a:close/>
                <a:moveTo>
                  <a:pt x="4675" y="191639"/>
                </a:moveTo>
                <a:lnTo>
                  <a:pt x="42079" y="191639"/>
                </a:lnTo>
                <a:cubicBezTo>
                  <a:pt x="109694" y="191639"/>
                  <a:pt x="120843" y="198482"/>
                  <a:pt x="130913" y="204605"/>
                </a:cubicBezTo>
                <a:cubicBezTo>
                  <a:pt x="139185" y="209287"/>
                  <a:pt x="146019" y="213248"/>
                  <a:pt x="187379" y="212888"/>
                </a:cubicBezTo>
                <a:cubicBezTo>
                  <a:pt x="187379" y="212888"/>
                  <a:pt x="196011" y="212168"/>
                  <a:pt x="202485" y="218290"/>
                </a:cubicBezTo>
                <a:cubicBezTo>
                  <a:pt x="203204" y="219731"/>
                  <a:pt x="204283" y="220451"/>
                  <a:pt x="205002" y="221892"/>
                </a:cubicBezTo>
                <a:cubicBezTo>
                  <a:pt x="218669" y="217930"/>
                  <a:pt x="230897" y="212888"/>
                  <a:pt x="240608" y="208926"/>
                </a:cubicBezTo>
                <a:cubicBezTo>
                  <a:pt x="256073" y="202084"/>
                  <a:pt x="265064" y="198122"/>
                  <a:pt x="271538" y="202804"/>
                </a:cubicBezTo>
                <a:cubicBezTo>
                  <a:pt x="275854" y="206405"/>
                  <a:pt x="276933" y="210367"/>
                  <a:pt x="277293" y="213248"/>
                </a:cubicBezTo>
                <a:cubicBezTo>
                  <a:pt x="277293" y="214329"/>
                  <a:pt x="276933" y="215769"/>
                  <a:pt x="276933" y="216850"/>
                </a:cubicBezTo>
                <a:cubicBezTo>
                  <a:pt x="281968" y="215769"/>
                  <a:pt x="285924" y="216129"/>
                  <a:pt x="289161" y="218650"/>
                </a:cubicBezTo>
                <a:cubicBezTo>
                  <a:pt x="294196" y="222612"/>
                  <a:pt x="294916" y="227294"/>
                  <a:pt x="294916" y="230175"/>
                </a:cubicBezTo>
                <a:cubicBezTo>
                  <a:pt x="294196" y="238819"/>
                  <a:pt x="285205" y="245662"/>
                  <a:pt x="283766" y="246382"/>
                </a:cubicBezTo>
                <a:cubicBezTo>
                  <a:pt x="235933" y="284558"/>
                  <a:pt x="180186" y="294642"/>
                  <a:pt x="134150" y="294642"/>
                </a:cubicBezTo>
                <a:cubicBezTo>
                  <a:pt x="85237" y="294642"/>
                  <a:pt x="47114" y="283117"/>
                  <a:pt x="41360" y="281316"/>
                </a:cubicBezTo>
                <a:lnTo>
                  <a:pt x="4675" y="281316"/>
                </a:lnTo>
                <a:cubicBezTo>
                  <a:pt x="2158" y="281316"/>
                  <a:pt x="0" y="279156"/>
                  <a:pt x="0" y="276995"/>
                </a:cubicBezTo>
                <a:lnTo>
                  <a:pt x="0" y="196321"/>
                </a:lnTo>
                <a:cubicBezTo>
                  <a:pt x="0" y="193800"/>
                  <a:pt x="2158" y="191639"/>
                  <a:pt x="4675" y="191639"/>
                </a:cubicBezTo>
                <a:close/>
                <a:moveTo>
                  <a:pt x="183117" y="73620"/>
                </a:moveTo>
                <a:lnTo>
                  <a:pt x="183117" y="98765"/>
                </a:lnTo>
                <a:cubicBezTo>
                  <a:pt x="183117" y="101279"/>
                  <a:pt x="181328" y="103435"/>
                  <a:pt x="178823" y="103435"/>
                </a:cubicBezTo>
                <a:lnTo>
                  <a:pt x="153411" y="103435"/>
                </a:lnTo>
                <a:lnTo>
                  <a:pt x="153411" y="124269"/>
                </a:lnTo>
                <a:lnTo>
                  <a:pt x="178823" y="124269"/>
                </a:lnTo>
                <a:cubicBezTo>
                  <a:pt x="181328" y="124269"/>
                  <a:pt x="183117" y="126065"/>
                  <a:pt x="183117" y="128580"/>
                </a:cubicBezTo>
                <a:lnTo>
                  <a:pt x="183117" y="154084"/>
                </a:lnTo>
                <a:lnTo>
                  <a:pt x="203876" y="154084"/>
                </a:lnTo>
                <a:lnTo>
                  <a:pt x="203876" y="128580"/>
                </a:lnTo>
                <a:cubicBezTo>
                  <a:pt x="203876" y="126065"/>
                  <a:pt x="206024" y="124269"/>
                  <a:pt x="208171" y="124269"/>
                </a:cubicBezTo>
                <a:lnTo>
                  <a:pt x="233583" y="124269"/>
                </a:lnTo>
                <a:lnTo>
                  <a:pt x="233583" y="103435"/>
                </a:lnTo>
                <a:lnTo>
                  <a:pt x="208171" y="103435"/>
                </a:lnTo>
                <a:cubicBezTo>
                  <a:pt x="206024" y="103435"/>
                  <a:pt x="203876" y="101279"/>
                  <a:pt x="203876" y="98765"/>
                </a:cubicBezTo>
                <a:lnTo>
                  <a:pt x="203876" y="73620"/>
                </a:lnTo>
                <a:lnTo>
                  <a:pt x="183117" y="73620"/>
                </a:lnTo>
                <a:close/>
                <a:moveTo>
                  <a:pt x="178823" y="64639"/>
                </a:moveTo>
                <a:lnTo>
                  <a:pt x="208171" y="64639"/>
                </a:lnTo>
                <a:cubicBezTo>
                  <a:pt x="210676" y="64639"/>
                  <a:pt x="212824" y="66795"/>
                  <a:pt x="212824" y="69309"/>
                </a:cubicBezTo>
                <a:lnTo>
                  <a:pt x="212824" y="94454"/>
                </a:lnTo>
                <a:lnTo>
                  <a:pt x="237878" y="94454"/>
                </a:lnTo>
                <a:cubicBezTo>
                  <a:pt x="240383" y="94454"/>
                  <a:pt x="242530" y="96250"/>
                  <a:pt x="242530" y="98765"/>
                </a:cubicBezTo>
                <a:lnTo>
                  <a:pt x="242530" y="128580"/>
                </a:lnTo>
                <a:cubicBezTo>
                  <a:pt x="242530" y="131094"/>
                  <a:pt x="240383" y="132890"/>
                  <a:pt x="237878" y="132890"/>
                </a:cubicBezTo>
                <a:lnTo>
                  <a:pt x="212824" y="132890"/>
                </a:lnTo>
                <a:lnTo>
                  <a:pt x="212824" y="158394"/>
                </a:lnTo>
                <a:cubicBezTo>
                  <a:pt x="212824" y="160909"/>
                  <a:pt x="210676" y="162705"/>
                  <a:pt x="208171" y="162705"/>
                </a:cubicBezTo>
                <a:lnTo>
                  <a:pt x="178823" y="162705"/>
                </a:lnTo>
                <a:cubicBezTo>
                  <a:pt x="176317" y="162705"/>
                  <a:pt x="174170" y="160909"/>
                  <a:pt x="174170" y="158394"/>
                </a:cubicBezTo>
                <a:lnTo>
                  <a:pt x="174170" y="132890"/>
                </a:lnTo>
                <a:lnTo>
                  <a:pt x="149116" y="132890"/>
                </a:lnTo>
                <a:cubicBezTo>
                  <a:pt x="146611" y="132890"/>
                  <a:pt x="144463" y="131094"/>
                  <a:pt x="144463" y="128580"/>
                </a:cubicBezTo>
                <a:lnTo>
                  <a:pt x="144463" y="98765"/>
                </a:lnTo>
                <a:cubicBezTo>
                  <a:pt x="144463" y="96250"/>
                  <a:pt x="146611" y="94454"/>
                  <a:pt x="149116" y="94454"/>
                </a:cubicBezTo>
                <a:lnTo>
                  <a:pt x="174170" y="94454"/>
                </a:lnTo>
                <a:lnTo>
                  <a:pt x="174170" y="69309"/>
                </a:lnTo>
                <a:cubicBezTo>
                  <a:pt x="174170" y="66795"/>
                  <a:pt x="176317" y="64639"/>
                  <a:pt x="178823" y="64639"/>
                </a:cubicBezTo>
                <a:close/>
                <a:moveTo>
                  <a:pt x="194899" y="10324"/>
                </a:moveTo>
                <a:lnTo>
                  <a:pt x="141818" y="63113"/>
                </a:lnTo>
                <a:cubicBezTo>
                  <a:pt x="128096" y="77478"/>
                  <a:pt x="120152" y="95793"/>
                  <a:pt x="120152" y="115903"/>
                </a:cubicBezTo>
                <a:cubicBezTo>
                  <a:pt x="120152" y="136014"/>
                  <a:pt x="128096" y="154687"/>
                  <a:pt x="141818" y="168693"/>
                </a:cubicBezTo>
                <a:cubicBezTo>
                  <a:pt x="156262" y="182698"/>
                  <a:pt x="175039" y="190239"/>
                  <a:pt x="194899" y="190239"/>
                </a:cubicBezTo>
                <a:cubicBezTo>
                  <a:pt x="215120" y="190239"/>
                  <a:pt x="233897" y="182698"/>
                  <a:pt x="247979" y="168693"/>
                </a:cubicBezTo>
                <a:cubicBezTo>
                  <a:pt x="277228" y="139605"/>
                  <a:pt x="277228" y="92561"/>
                  <a:pt x="247979" y="63113"/>
                </a:cubicBezTo>
                <a:lnTo>
                  <a:pt x="194899" y="10324"/>
                </a:lnTo>
                <a:close/>
                <a:moveTo>
                  <a:pt x="192010" y="1346"/>
                </a:moveTo>
                <a:cubicBezTo>
                  <a:pt x="193454" y="-449"/>
                  <a:pt x="196343" y="-449"/>
                  <a:pt x="198148" y="1346"/>
                </a:cubicBezTo>
                <a:lnTo>
                  <a:pt x="254118" y="57009"/>
                </a:lnTo>
                <a:cubicBezTo>
                  <a:pt x="286977" y="89329"/>
                  <a:pt x="286977" y="142478"/>
                  <a:pt x="254118" y="174798"/>
                </a:cubicBezTo>
                <a:cubicBezTo>
                  <a:pt x="238591" y="190598"/>
                  <a:pt x="217647" y="199217"/>
                  <a:pt x="194899" y="199217"/>
                </a:cubicBezTo>
                <a:cubicBezTo>
                  <a:pt x="172511" y="199217"/>
                  <a:pt x="151568" y="190598"/>
                  <a:pt x="135679" y="174798"/>
                </a:cubicBezTo>
                <a:cubicBezTo>
                  <a:pt x="119791" y="159356"/>
                  <a:pt x="111125" y="138168"/>
                  <a:pt x="111125" y="115903"/>
                </a:cubicBezTo>
                <a:cubicBezTo>
                  <a:pt x="111125" y="93638"/>
                  <a:pt x="119791" y="72810"/>
                  <a:pt x="135679" y="57009"/>
                </a:cubicBezTo>
                <a:lnTo>
                  <a:pt x="192010" y="134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Open Sans Light"/>
              <a:ea typeface="Open Sans Light"/>
              <a:cs typeface="Open Sans Light"/>
              <a:sym typeface="Open Sans Light"/>
            </a:endParaRPr>
          </a:p>
        </p:txBody>
      </p:sp>
      <p:cxnSp>
        <p:nvCxnSpPr>
          <p:cNvPr id="136" name="Google Shape;136;p16"/>
          <p:cNvCxnSpPr>
            <a:stCxn id="124" idx="2"/>
            <a:endCxn id="137" idx="0"/>
          </p:cNvCxnSpPr>
          <p:nvPr/>
        </p:nvCxnSpPr>
        <p:spPr>
          <a:xfrm rot="5400000">
            <a:off x="1890712" y="4153959"/>
            <a:ext cx="1447500" cy="930300"/>
          </a:xfrm>
          <a:prstGeom prst="bentConnector3">
            <a:avLst>
              <a:gd fmla="val 50000" name="adj1"/>
            </a:avLst>
          </a:prstGeom>
          <a:noFill/>
          <a:ln cap="rnd" cmpd="sng" w="38100">
            <a:solidFill>
              <a:srgbClr val="BFBFBF"/>
            </a:solidFill>
            <a:prstDash val="dash"/>
            <a:miter lim="800000"/>
            <a:headEnd len="sm" w="sm" type="none"/>
            <a:tailEnd len="sm" w="sm" type="none"/>
          </a:ln>
        </p:spPr>
      </p:cxnSp>
      <p:cxnSp>
        <p:nvCxnSpPr>
          <p:cNvPr id="138" name="Google Shape;138;p16"/>
          <p:cNvCxnSpPr>
            <a:stCxn id="128" idx="0"/>
            <a:endCxn id="139" idx="0"/>
          </p:cNvCxnSpPr>
          <p:nvPr/>
        </p:nvCxnSpPr>
        <p:spPr>
          <a:xfrm flipH="1" rot="-5400000">
            <a:off x="8067103" y="4206942"/>
            <a:ext cx="1062000" cy="450600"/>
          </a:xfrm>
          <a:prstGeom prst="bentConnector3">
            <a:avLst>
              <a:gd fmla="val 50002" name="adj1"/>
            </a:avLst>
          </a:prstGeom>
          <a:noFill/>
          <a:ln cap="rnd" cmpd="sng" w="38100">
            <a:solidFill>
              <a:srgbClr val="BFBFBF"/>
            </a:solidFill>
            <a:prstDash val="dash"/>
            <a:miter lim="800000"/>
            <a:headEnd len="sm" w="sm" type="none"/>
            <a:tailEnd len="sm" w="sm" type="none"/>
          </a:ln>
        </p:spPr>
      </p:cxnSp>
      <p:cxnSp>
        <p:nvCxnSpPr>
          <p:cNvPr id="140" name="Google Shape;140;p16"/>
          <p:cNvCxnSpPr>
            <a:stCxn id="127" idx="0"/>
            <a:endCxn id="141" idx="2"/>
          </p:cNvCxnSpPr>
          <p:nvPr/>
        </p:nvCxnSpPr>
        <p:spPr>
          <a:xfrm rot="-5400000">
            <a:off x="7050263" y="2048482"/>
            <a:ext cx="857700" cy="834600"/>
          </a:xfrm>
          <a:prstGeom prst="bentConnector3">
            <a:avLst>
              <a:gd fmla="val 49997" name="adj1"/>
            </a:avLst>
          </a:prstGeom>
          <a:noFill/>
          <a:ln cap="rnd" cmpd="sng" w="38100">
            <a:solidFill>
              <a:srgbClr val="BFBFBF"/>
            </a:solidFill>
            <a:prstDash val="dash"/>
            <a:miter lim="800000"/>
            <a:headEnd len="sm" w="sm" type="none"/>
            <a:tailEnd len="sm" w="sm" type="none"/>
          </a:ln>
        </p:spPr>
      </p:cxnSp>
      <p:cxnSp>
        <p:nvCxnSpPr>
          <p:cNvPr id="142" name="Google Shape;142;p16"/>
          <p:cNvCxnSpPr>
            <a:stCxn id="126" idx="2"/>
            <a:endCxn id="143" idx="0"/>
          </p:cNvCxnSpPr>
          <p:nvPr/>
        </p:nvCxnSpPr>
        <p:spPr>
          <a:xfrm flipH="1" rot="-5400000">
            <a:off x="4995326" y="4609241"/>
            <a:ext cx="1434900" cy="18900"/>
          </a:xfrm>
          <a:prstGeom prst="bentConnector3">
            <a:avLst>
              <a:gd fmla="val 50000" name="adj1"/>
            </a:avLst>
          </a:prstGeom>
          <a:noFill/>
          <a:ln cap="rnd" cmpd="sng" w="38100">
            <a:solidFill>
              <a:srgbClr val="BFBFBF"/>
            </a:solidFill>
            <a:prstDash val="dash"/>
            <a:miter lim="800000"/>
            <a:headEnd len="sm" w="sm" type="none"/>
            <a:tailEnd len="sm" w="sm" type="none"/>
          </a:ln>
        </p:spPr>
      </p:cxnSp>
      <p:cxnSp>
        <p:nvCxnSpPr>
          <p:cNvPr id="144" name="Google Shape;144;p16"/>
          <p:cNvCxnSpPr>
            <a:stCxn id="125" idx="0"/>
            <a:endCxn id="145" idx="2"/>
          </p:cNvCxnSpPr>
          <p:nvPr/>
        </p:nvCxnSpPr>
        <p:spPr>
          <a:xfrm rot="-5400000">
            <a:off x="3937148" y="2455055"/>
            <a:ext cx="873000" cy="600"/>
          </a:xfrm>
          <a:prstGeom prst="bentConnector3">
            <a:avLst>
              <a:gd fmla="val 49997" name="adj1"/>
            </a:avLst>
          </a:prstGeom>
          <a:noFill/>
          <a:ln cap="rnd" cmpd="sng" w="38100">
            <a:solidFill>
              <a:srgbClr val="BFBFBF"/>
            </a:solidFill>
            <a:prstDash val="dash"/>
            <a:miter lim="800000"/>
            <a:headEnd len="sm" w="sm" type="none"/>
            <a:tailEnd len="sm" w="sm" type="none"/>
          </a:ln>
        </p:spPr>
      </p:cxnSp>
      <p:sp>
        <p:nvSpPr>
          <p:cNvPr id="137" name="Google Shape;137;p16"/>
          <p:cNvSpPr txBox="1"/>
          <p:nvPr/>
        </p:nvSpPr>
        <p:spPr>
          <a:xfrm>
            <a:off x="1010358" y="5342876"/>
            <a:ext cx="2278189"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Background and </a:t>
            </a:r>
            <a:endParaRPr/>
          </a:p>
          <a:p>
            <a:pPr indent="0" lvl="0" marL="0" marR="0" rtl="0" algn="ctr">
              <a:spcBef>
                <a:spcPts val="0"/>
              </a:spcBef>
              <a:spcAft>
                <a:spcPts val="0"/>
              </a:spcAft>
              <a:buNone/>
            </a:pPr>
            <a:r>
              <a:rPr b="1" lang="en-US" sz="1600">
                <a:solidFill>
                  <a:schemeClr val="dk2"/>
                </a:solidFill>
                <a:latin typeface="Poppins"/>
                <a:ea typeface="Poppins"/>
                <a:cs typeface="Poppins"/>
                <a:sym typeface="Poppins"/>
              </a:rPr>
              <a:t>Dataset Description</a:t>
            </a:r>
            <a:endParaRPr/>
          </a:p>
        </p:txBody>
      </p:sp>
      <p:sp>
        <p:nvSpPr>
          <p:cNvPr id="145" name="Google Shape;145;p16"/>
          <p:cNvSpPr txBox="1"/>
          <p:nvPr/>
        </p:nvSpPr>
        <p:spPr>
          <a:xfrm>
            <a:off x="3198185" y="1434128"/>
            <a:ext cx="2350323"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Warehouse Design /</a:t>
            </a:r>
            <a:endParaRPr/>
          </a:p>
          <a:p>
            <a:pPr indent="0" lvl="0" marL="0" marR="0" rtl="0" algn="ctr">
              <a:spcBef>
                <a:spcPts val="0"/>
              </a:spcBef>
              <a:spcAft>
                <a:spcPts val="0"/>
              </a:spcAft>
              <a:buNone/>
            </a:pPr>
            <a:r>
              <a:rPr b="1" lang="en-US" sz="1600">
                <a:solidFill>
                  <a:schemeClr val="dk2"/>
                </a:solidFill>
                <a:latin typeface="Poppins"/>
                <a:ea typeface="Poppins"/>
                <a:cs typeface="Poppins"/>
                <a:sym typeface="Poppins"/>
              </a:rPr>
              <a:t>Dimension Modeling</a:t>
            </a:r>
            <a:endParaRPr/>
          </a:p>
        </p:txBody>
      </p:sp>
      <p:sp>
        <p:nvSpPr>
          <p:cNvPr id="143" name="Google Shape;143;p16"/>
          <p:cNvSpPr txBox="1"/>
          <p:nvPr/>
        </p:nvSpPr>
        <p:spPr>
          <a:xfrm>
            <a:off x="4653006" y="5336179"/>
            <a:ext cx="2138727"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Data Preparation /</a:t>
            </a:r>
            <a:endParaRPr/>
          </a:p>
          <a:p>
            <a:pPr indent="0" lvl="0" marL="0" marR="0" rtl="0" algn="ctr">
              <a:spcBef>
                <a:spcPts val="0"/>
              </a:spcBef>
              <a:spcAft>
                <a:spcPts val="0"/>
              </a:spcAft>
              <a:buNone/>
            </a:pPr>
            <a:r>
              <a:rPr b="1" lang="en-US" sz="1600">
                <a:solidFill>
                  <a:schemeClr val="dk2"/>
                </a:solidFill>
                <a:latin typeface="Poppins"/>
                <a:ea typeface="Poppins"/>
                <a:cs typeface="Poppins"/>
                <a:sym typeface="Poppins"/>
              </a:rPr>
              <a:t>ETL</a:t>
            </a:r>
            <a:endParaRPr/>
          </a:p>
        </p:txBody>
      </p:sp>
      <p:sp>
        <p:nvSpPr>
          <p:cNvPr id="141" name="Google Shape;141;p16"/>
          <p:cNvSpPr txBox="1"/>
          <p:nvPr/>
        </p:nvSpPr>
        <p:spPr>
          <a:xfrm>
            <a:off x="6834927" y="1452212"/>
            <a:ext cx="2122697"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Data Exploration / </a:t>
            </a:r>
            <a:endParaRPr/>
          </a:p>
          <a:p>
            <a:pPr indent="0" lvl="0" marL="0" marR="0" rtl="0" algn="ctr">
              <a:spcBef>
                <a:spcPts val="0"/>
              </a:spcBef>
              <a:spcAft>
                <a:spcPts val="0"/>
              </a:spcAft>
              <a:buNone/>
            </a:pPr>
            <a:r>
              <a:rPr b="1" lang="en-US" sz="1600">
                <a:solidFill>
                  <a:schemeClr val="dk2"/>
                </a:solidFill>
                <a:latin typeface="Poppins"/>
                <a:ea typeface="Poppins"/>
                <a:cs typeface="Poppins"/>
                <a:sym typeface="Poppins"/>
              </a:rPr>
              <a:t>Analysis</a:t>
            </a:r>
            <a:endParaRPr/>
          </a:p>
        </p:txBody>
      </p:sp>
      <p:sp>
        <p:nvSpPr>
          <p:cNvPr id="139" name="Google Shape;139;p16"/>
          <p:cNvSpPr txBox="1"/>
          <p:nvPr/>
        </p:nvSpPr>
        <p:spPr>
          <a:xfrm>
            <a:off x="7574436" y="4963277"/>
            <a:ext cx="2497800" cy="338554"/>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Business Implications</a:t>
            </a:r>
            <a:endParaRPr/>
          </a:p>
        </p:txBody>
      </p:sp>
      <p:pic>
        <p:nvPicPr>
          <p:cNvPr descr="Checklist with solid fill" id="146" name="Google Shape;146;p16"/>
          <p:cNvPicPr preferRelativeResize="0"/>
          <p:nvPr/>
        </p:nvPicPr>
        <p:blipFill rotWithShape="1">
          <a:blip r:embed="rId3">
            <a:alphaModFix/>
          </a:blip>
          <a:srcRect b="0" l="0" r="0" t="0"/>
          <a:stretch/>
        </p:blipFill>
        <p:spPr>
          <a:xfrm>
            <a:off x="7896275" y="2954261"/>
            <a:ext cx="884688" cy="884688"/>
          </a:xfrm>
          <a:prstGeom prst="rect">
            <a:avLst/>
          </a:prstGeom>
          <a:noFill/>
          <a:ln>
            <a:noFill/>
          </a:ln>
        </p:spPr>
      </p:pic>
      <p:pic>
        <p:nvPicPr>
          <p:cNvPr descr="Workflow with solid fill" id="147" name="Google Shape;147;p16"/>
          <p:cNvPicPr preferRelativeResize="0"/>
          <p:nvPr/>
        </p:nvPicPr>
        <p:blipFill rotWithShape="1">
          <a:blip r:embed="rId4">
            <a:alphaModFix/>
          </a:blip>
          <a:srcRect b="0" l="0" r="0" t="0"/>
          <a:stretch/>
        </p:blipFill>
        <p:spPr>
          <a:xfrm>
            <a:off x="5241394" y="2942125"/>
            <a:ext cx="914400" cy="914400"/>
          </a:xfrm>
          <a:prstGeom prst="rect">
            <a:avLst/>
          </a:prstGeom>
          <a:noFill/>
          <a:ln>
            <a:noFill/>
          </a:ln>
        </p:spPr>
      </p:pic>
      <p:sp>
        <p:nvSpPr>
          <p:cNvPr id="148" name="Google Shape;148;p16"/>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149" name="Google Shape;149;p16"/>
          <p:cNvPicPr preferRelativeResize="0"/>
          <p:nvPr/>
        </p:nvPicPr>
        <p:blipFill rotWithShape="1">
          <a:blip r:embed="rId5">
            <a:alphaModFix/>
          </a:blip>
          <a:srcRect b="0" l="0" r="0" t="0"/>
          <a:stretch/>
        </p:blipFill>
        <p:spPr>
          <a:xfrm>
            <a:off x="3793413" y="2894632"/>
            <a:ext cx="1169911" cy="1082561"/>
          </a:xfrm>
          <a:prstGeom prst="rect">
            <a:avLst/>
          </a:prstGeom>
          <a:noFill/>
          <a:ln>
            <a:noFill/>
          </a:ln>
        </p:spPr>
      </p:pic>
      <p:pic>
        <p:nvPicPr>
          <p:cNvPr descr="A magnifying glass with graph and arrows&#10;&#10;Description automatically generated" id="150" name="Google Shape;150;p16"/>
          <p:cNvPicPr preferRelativeResize="0"/>
          <p:nvPr/>
        </p:nvPicPr>
        <p:blipFill rotWithShape="1">
          <a:blip r:embed="rId6">
            <a:alphaModFix/>
          </a:blip>
          <a:srcRect b="0" l="0" r="0" t="0"/>
          <a:stretch/>
        </p:blipFill>
        <p:spPr>
          <a:xfrm>
            <a:off x="6556311" y="2957632"/>
            <a:ext cx="987397" cy="898893"/>
          </a:xfrm>
          <a:prstGeom prst="rect">
            <a:avLst/>
          </a:prstGeom>
          <a:noFill/>
          <a:ln>
            <a:noFill/>
          </a:ln>
        </p:spPr>
      </p:pic>
      <p:sp>
        <p:nvSpPr>
          <p:cNvPr id="151" name="Google Shape;151;p16"/>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p:nvPr/>
        </p:nvSpPr>
        <p:spPr>
          <a:xfrm rot="-2703622">
            <a:off x="1236295" y="1451090"/>
            <a:ext cx="2243653" cy="2243653"/>
          </a:xfrm>
          <a:prstGeom prst="diamond">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57" name="Google Shape;157;p17"/>
          <p:cNvSpPr/>
          <p:nvPr/>
        </p:nvSpPr>
        <p:spPr>
          <a:xfrm rot="-2723453">
            <a:off x="3131030" y="3556086"/>
            <a:ext cx="2243653" cy="2243653"/>
          </a:xfrm>
          <a:prstGeom prst="diamond">
            <a:avLst/>
          </a:prstGeom>
          <a:solidFill>
            <a:schemeClr val="accent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58" name="Google Shape;158;p17"/>
          <p:cNvSpPr txBox="1"/>
          <p:nvPr/>
        </p:nvSpPr>
        <p:spPr>
          <a:xfrm>
            <a:off x="4333341" y="291270"/>
            <a:ext cx="352532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BACKGROUND</a:t>
            </a:r>
            <a:endParaRPr/>
          </a:p>
        </p:txBody>
      </p:sp>
      <p:sp>
        <p:nvSpPr>
          <p:cNvPr id="159" name="Google Shape;159;p17"/>
          <p:cNvSpPr txBox="1"/>
          <p:nvPr/>
        </p:nvSpPr>
        <p:spPr>
          <a:xfrm>
            <a:off x="4550550" y="818501"/>
            <a:ext cx="309091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666666"/>
                </a:solidFill>
                <a:latin typeface="Poppins"/>
                <a:ea typeface="Poppins"/>
                <a:cs typeface="Poppins"/>
                <a:sym typeface="Poppins"/>
              </a:rPr>
              <a:t>BUSINESS PROBLEMS</a:t>
            </a:r>
            <a:endParaRPr/>
          </a:p>
        </p:txBody>
      </p:sp>
      <p:sp>
        <p:nvSpPr>
          <p:cNvPr id="160" name="Google Shape;160;p17"/>
          <p:cNvSpPr/>
          <p:nvPr/>
        </p:nvSpPr>
        <p:spPr>
          <a:xfrm>
            <a:off x="3944611" y="4378407"/>
            <a:ext cx="639554" cy="598947"/>
          </a:xfrm>
          <a:custGeom>
            <a:rect b="b" l="l" r="r" t="t"/>
            <a:pathLst>
              <a:path extrusionOk="0" h="842603" w="899753">
                <a:moveTo>
                  <a:pt x="28575" y="444500"/>
                </a:moveTo>
                <a:lnTo>
                  <a:pt x="65686" y="449899"/>
                </a:lnTo>
                <a:cubicBezTo>
                  <a:pt x="165490" y="463937"/>
                  <a:pt x="265654" y="472576"/>
                  <a:pt x="366179" y="475816"/>
                </a:cubicBezTo>
                <a:lnTo>
                  <a:pt x="366179" y="533047"/>
                </a:lnTo>
                <a:lnTo>
                  <a:pt x="535161" y="533047"/>
                </a:lnTo>
                <a:lnTo>
                  <a:pt x="535161" y="475816"/>
                </a:lnTo>
                <a:cubicBezTo>
                  <a:pt x="635325" y="472576"/>
                  <a:pt x="735850" y="463937"/>
                  <a:pt x="835293" y="449899"/>
                </a:cubicBezTo>
                <a:lnTo>
                  <a:pt x="872765" y="444500"/>
                </a:lnTo>
                <a:lnTo>
                  <a:pt x="872765" y="769894"/>
                </a:lnTo>
                <a:lnTo>
                  <a:pt x="799984" y="842603"/>
                </a:lnTo>
                <a:lnTo>
                  <a:pt x="101356" y="842603"/>
                </a:lnTo>
                <a:lnTo>
                  <a:pt x="28575" y="769894"/>
                </a:lnTo>
                <a:lnTo>
                  <a:pt x="28575" y="444500"/>
                </a:lnTo>
                <a:close/>
                <a:moveTo>
                  <a:pt x="348884" y="56606"/>
                </a:moveTo>
                <a:lnTo>
                  <a:pt x="337362" y="68144"/>
                </a:lnTo>
                <a:lnTo>
                  <a:pt x="337362" y="112852"/>
                </a:lnTo>
                <a:lnTo>
                  <a:pt x="562391" y="112852"/>
                </a:lnTo>
                <a:lnTo>
                  <a:pt x="562391" y="68144"/>
                </a:lnTo>
                <a:lnTo>
                  <a:pt x="550869" y="56606"/>
                </a:lnTo>
                <a:lnTo>
                  <a:pt x="348884" y="56606"/>
                </a:lnTo>
                <a:close/>
                <a:moveTo>
                  <a:pt x="325841" y="0"/>
                </a:moveTo>
                <a:lnTo>
                  <a:pt x="573912" y="0"/>
                </a:lnTo>
                <a:lnTo>
                  <a:pt x="618558" y="44708"/>
                </a:lnTo>
                <a:lnTo>
                  <a:pt x="618558" y="112852"/>
                </a:lnTo>
                <a:lnTo>
                  <a:pt x="855108" y="112852"/>
                </a:lnTo>
                <a:lnTo>
                  <a:pt x="899753" y="157561"/>
                </a:lnTo>
                <a:lnTo>
                  <a:pt x="899753" y="390837"/>
                </a:lnTo>
                <a:lnTo>
                  <a:pt x="816943" y="402014"/>
                </a:lnTo>
                <a:cubicBezTo>
                  <a:pt x="722971" y="414633"/>
                  <a:pt x="628639" y="422205"/>
                  <a:pt x="534307" y="425089"/>
                </a:cubicBezTo>
                <a:lnTo>
                  <a:pt x="534307" y="366320"/>
                </a:lnTo>
                <a:lnTo>
                  <a:pt x="365446" y="366320"/>
                </a:lnTo>
                <a:lnTo>
                  <a:pt x="365446" y="425089"/>
                </a:lnTo>
                <a:cubicBezTo>
                  <a:pt x="271114" y="422205"/>
                  <a:pt x="176782" y="414633"/>
                  <a:pt x="83171" y="402014"/>
                </a:cubicBezTo>
                <a:lnTo>
                  <a:pt x="0" y="390837"/>
                </a:lnTo>
                <a:lnTo>
                  <a:pt x="0" y="157561"/>
                </a:lnTo>
                <a:lnTo>
                  <a:pt x="44646" y="112852"/>
                </a:lnTo>
                <a:lnTo>
                  <a:pt x="281195" y="112852"/>
                </a:lnTo>
                <a:lnTo>
                  <a:pt x="281195" y="44708"/>
                </a:lnTo>
                <a:lnTo>
                  <a:pt x="32584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Lato Light"/>
              <a:ea typeface="Lato Light"/>
              <a:cs typeface="Lato Light"/>
              <a:sym typeface="Lato Light"/>
            </a:endParaRPr>
          </a:p>
        </p:txBody>
      </p:sp>
      <p:sp>
        <p:nvSpPr>
          <p:cNvPr id="161" name="Google Shape;161;p17"/>
          <p:cNvSpPr/>
          <p:nvPr/>
        </p:nvSpPr>
        <p:spPr>
          <a:xfrm rot="-2692017">
            <a:off x="6869730" y="3556055"/>
            <a:ext cx="2243653" cy="2243653"/>
          </a:xfrm>
          <a:prstGeom prst="diamond">
            <a:avLst/>
          </a:prstGeom>
          <a:solidFill>
            <a:schemeClr val="accent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62" name="Google Shape;162;p17"/>
          <p:cNvSpPr/>
          <p:nvPr/>
        </p:nvSpPr>
        <p:spPr>
          <a:xfrm>
            <a:off x="7702237" y="4378407"/>
            <a:ext cx="600075" cy="639555"/>
          </a:xfrm>
          <a:custGeom>
            <a:rect b="b" l="l" r="r" t="t"/>
            <a:pathLst>
              <a:path extrusionOk="0" h="2500" w="2344">
                <a:moveTo>
                  <a:pt x="2031" y="1328"/>
                </a:moveTo>
                <a:lnTo>
                  <a:pt x="1250" y="1328"/>
                </a:lnTo>
                <a:lnTo>
                  <a:pt x="1250" y="1172"/>
                </a:lnTo>
                <a:lnTo>
                  <a:pt x="2031" y="1172"/>
                </a:lnTo>
                <a:lnTo>
                  <a:pt x="2031" y="1328"/>
                </a:lnTo>
                <a:close/>
                <a:moveTo>
                  <a:pt x="2031" y="1953"/>
                </a:moveTo>
                <a:lnTo>
                  <a:pt x="1250" y="1953"/>
                </a:lnTo>
                <a:lnTo>
                  <a:pt x="1250" y="1796"/>
                </a:lnTo>
                <a:lnTo>
                  <a:pt x="2031" y="1796"/>
                </a:lnTo>
                <a:lnTo>
                  <a:pt x="2031" y="1953"/>
                </a:lnTo>
                <a:close/>
                <a:moveTo>
                  <a:pt x="1016" y="1015"/>
                </a:moveTo>
                <a:lnTo>
                  <a:pt x="1016" y="1015"/>
                </a:lnTo>
                <a:cubicBezTo>
                  <a:pt x="972" y="1015"/>
                  <a:pt x="938" y="980"/>
                  <a:pt x="938" y="937"/>
                </a:cubicBezTo>
                <a:cubicBezTo>
                  <a:pt x="938" y="893"/>
                  <a:pt x="972" y="859"/>
                  <a:pt x="1016" y="859"/>
                </a:cubicBezTo>
                <a:cubicBezTo>
                  <a:pt x="1059" y="859"/>
                  <a:pt x="1094" y="893"/>
                  <a:pt x="1094" y="937"/>
                </a:cubicBezTo>
                <a:cubicBezTo>
                  <a:pt x="1094" y="980"/>
                  <a:pt x="1059" y="1015"/>
                  <a:pt x="1016" y="1015"/>
                </a:cubicBezTo>
                <a:close/>
                <a:moveTo>
                  <a:pt x="1016" y="1328"/>
                </a:moveTo>
                <a:lnTo>
                  <a:pt x="1016" y="1328"/>
                </a:lnTo>
                <a:cubicBezTo>
                  <a:pt x="972" y="1328"/>
                  <a:pt x="938" y="1293"/>
                  <a:pt x="938" y="1249"/>
                </a:cubicBezTo>
                <a:cubicBezTo>
                  <a:pt x="938" y="1206"/>
                  <a:pt x="972" y="1172"/>
                  <a:pt x="1016" y="1172"/>
                </a:cubicBezTo>
                <a:cubicBezTo>
                  <a:pt x="1059" y="1172"/>
                  <a:pt x="1094" y="1206"/>
                  <a:pt x="1094" y="1249"/>
                </a:cubicBezTo>
                <a:cubicBezTo>
                  <a:pt x="1094" y="1293"/>
                  <a:pt x="1059" y="1328"/>
                  <a:pt x="1016" y="1328"/>
                </a:cubicBezTo>
                <a:close/>
                <a:moveTo>
                  <a:pt x="1016" y="1640"/>
                </a:moveTo>
                <a:lnTo>
                  <a:pt x="1016" y="1640"/>
                </a:lnTo>
                <a:cubicBezTo>
                  <a:pt x="972" y="1640"/>
                  <a:pt x="938" y="1605"/>
                  <a:pt x="938" y="1562"/>
                </a:cubicBezTo>
                <a:cubicBezTo>
                  <a:pt x="938" y="1519"/>
                  <a:pt x="972" y="1484"/>
                  <a:pt x="1016" y="1484"/>
                </a:cubicBezTo>
                <a:cubicBezTo>
                  <a:pt x="1059" y="1484"/>
                  <a:pt x="1094" y="1519"/>
                  <a:pt x="1094" y="1562"/>
                </a:cubicBezTo>
                <a:cubicBezTo>
                  <a:pt x="1094" y="1605"/>
                  <a:pt x="1059" y="1640"/>
                  <a:pt x="1016" y="1640"/>
                </a:cubicBezTo>
                <a:close/>
                <a:moveTo>
                  <a:pt x="1016" y="1953"/>
                </a:moveTo>
                <a:lnTo>
                  <a:pt x="1016" y="1953"/>
                </a:lnTo>
                <a:cubicBezTo>
                  <a:pt x="972" y="1953"/>
                  <a:pt x="938" y="1917"/>
                  <a:pt x="938" y="1874"/>
                </a:cubicBezTo>
                <a:cubicBezTo>
                  <a:pt x="938" y="1831"/>
                  <a:pt x="972" y="1796"/>
                  <a:pt x="1016" y="1796"/>
                </a:cubicBezTo>
                <a:cubicBezTo>
                  <a:pt x="1059" y="1796"/>
                  <a:pt x="1094" y="1831"/>
                  <a:pt x="1094" y="1874"/>
                </a:cubicBezTo>
                <a:cubicBezTo>
                  <a:pt x="1094" y="1917"/>
                  <a:pt x="1059" y="1953"/>
                  <a:pt x="1016" y="1953"/>
                </a:cubicBezTo>
                <a:close/>
                <a:moveTo>
                  <a:pt x="1250" y="1484"/>
                </a:moveTo>
                <a:lnTo>
                  <a:pt x="1718" y="1484"/>
                </a:lnTo>
                <a:lnTo>
                  <a:pt x="1718" y="1640"/>
                </a:lnTo>
                <a:lnTo>
                  <a:pt x="1250" y="1640"/>
                </a:lnTo>
                <a:lnTo>
                  <a:pt x="1250" y="1484"/>
                </a:lnTo>
                <a:close/>
                <a:moveTo>
                  <a:pt x="1250" y="859"/>
                </a:moveTo>
                <a:lnTo>
                  <a:pt x="1952" y="859"/>
                </a:lnTo>
                <a:lnTo>
                  <a:pt x="1952" y="1015"/>
                </a:lnTo>
                <a:lnTo>
                  <a:pt x="1250" y="1015"/>
                </a:lnTo>
                <a:lnTo>
                  <a:pt x="1250" y="859"/>
                </a:lnTo>
                <a:close/>
                <a:moveTo>
                  <a:pt x="1250" y="390"/>
                </a:moveTo>
                <a:lnTo>
                  <a:pt x="1796" y="390"/>
                </a:lnTo>
                <a:lnTo>
                  <a:pt x="1796" y="546"/>
                </a:lnTo>
                <a:lnTo>
                  <a:pt x="1250" y="546"/>
                </a:lnTo>
                <a:lnTo>
                  <a:pt x="1250" y="390"/>
                </a:lnTo>
                <a:close/>
                <a:moveTo>
                  <a:pt x="625" y="2265"/>
                </a:moveTo>
                <a:lnTo>
                  <a:pt x="625" y="2265"/>
                </a:lnTo>
                <a:cubicBezTo>
                  <a:pt x="625" y="2308"/>
                  <a:pt x="590" y="2343"/>
                  <a:pt x="547" y="2343"/>
                </a:cubicBezTo>
                <a:cubicBezTo>
                  <a:pt x="504" y="2343"/>
                  <a:pt x="469" y="2308"/>
                  <a:pt x="469" y="2265"/>
                </a:cubicBezTo>
                <a:lnTo>
                  <a:pt x="469" y="859"/>
                </a:lnTo>
                <a:cubicBezTo>
                  <a:pt x="469" y="831"/>
                  <a:pt x="463" y="806"/>
                  <a:pt x="454" y="781"/>
                </a:cubicBezTo>
                <a:lnTo>
                  <a:pt x="625" y="781"/>
                </a:lnTo>
                <a:lnTo>
                  <a:pt x="625" y="2265"/>
                </a:lnTo>
                <a:close/>
                <a:moveTo>
                  <a:pt x="313" y="1640"/>
                </a:moveTo>
                <a:lnTo>
                  <a:pt x="157" y="1640"/>
                </a:lnTo>
                <a:lnTo>
                  <a:pt x="157" y="859"/>
                </a:lnTo>
                <a:cubicBezTo>
                  <a:pt x="157" y="816"/>
                  <a:pt x="191" y="781"/>
                  <a:pt x="234" y="781"/>
                </a:cubicBezTo>
                <a:cubicBezTo>
                  <a:pt x="277" y="781"/>
                  <a:pt x="313" y="816"/>
                  <a:pt x="313" y="859"/>
                </a:cubicBezTo>
                <a:lnTo>
                  <a:pt x="313" y="1640"/>
                </a:lnTo>
                <a:close/>
                <a:moveTo>
                  <a:pt x="625" y="0"/>
                </a:moveTo>
                <a:lnTo>
                  <a:pt x="625" y="625"/>
                </a:lnTo>
                <a:lnTo>
                  <a:pt x="234" y="625"/>
                </a:lnTo>
                <a:cubicBezTo>
                  <a:pt x="105" y="625"/>
                  <a:pt x="0" y="730"/>
                  <a:pt x="0" y="859"/>
                </a:cubicBezTo>
                <a:lnTo>
                  <a:pt x="0" y="1796"/>
                </a:lnTo>
                <a:lnTo>
                  <a:pt x="313" y="1796"/>
                </a:lnTo>
                <a:lnTo>
                  <a:pt x="313" y="2265"/>
                </a:lnTo>
                <a:cubicBezTo>
                  <a:pt x="313" y="2394"/>
                  <a:pt x="418" y="2499"/>
                  <a:pt x="547" y="2499"/>
                </a:cubicBezTo>
                <a:lnTo>
                  <a:pt x="2109" y="2499"/>
                </a:lnTo>
                <a:cubicBezTo>
                  <a:pt x="2238" y="2499"/>
                  <a:pt x="2343" y="2394"/>
                  <a:pt x="2343" y="2265"/>
                </a:cubicBezTo>
                <a:lnTo>
                  <a:pt x="2343" y="0"/>
                </a:lnTo>
                <a:lnTo>
                  <a:pt x="62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Lato Light"/>
              <a:ea typeface="Lato Light"/>
              <a:cs typeface="Lato Light"/>
              <a:sym typeface="Lato Light"/>
            </a:endParaRPr>
          </a:p>
        </p:txBody>
      </p:sp>
      <p:sp>
        <p:nvSpPr>
          <p:cNvPr id="163" name="Google Shape;163;p17"/>
          <p:cNvSpPr/>
          <p:nvPr/>
        </p:nvSpPr>
        <p:spPr>
          <a:xfrm rot="-2686856">
            <a:off x="8721490" y="1441634"/>
            <a:ext cx="2243653" cy="2243653"/>
          </a:xfrm>
          <a:prstGeom prst="diamond">
            <a:avLst/>
          </a:prstGeom>
          <a:solidFill>
            <a:schemeClr val="accent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64" name="Google Shape;164;p17"/>
          <p:cNvSpPr/>
          <p:nvPr/>
        </p:nvSpPr>
        <p:spPr>
          <a:xfrm>
            <a:off x="9526923" y="2326589"/>
            <a:ext cx="632786" cy="473743"/>
          </a:xfrm>
          <a:custGeom>
            <a:rect b="b" l="l" r="r" t="t"/>
            <a:pathLst>
              <a:path extrusionOk="0" h="666394" w="890228">
                <a:moveTo>
                  <a:pt x="0" y="611188"/>
                </a:moveTo>
                <a:lnTo>
                  <a:pt x="890228" y="611188"/>
                </a:lnTo>
                <a:lnTo>
                  <a:pt x="890228" y="638969"/>
                </a:lnTo>
                <a:cubicBezTo>
                  <a:pt x="890228" y="654284"/>
                  <a:pt x="877999" y="666394"/>
                  <a:pt x="862532" y="666394"/>
                </a:cubicBezTo>
                <a:lnTo>
                  <a:pt x="27696" y="666394"/>
                </a:lnTo>
                <a:cubicBezTo>
                  <a:pt x="12230" y="666394"/>
                  <a:pt x="0" y="654284"/>
                  <a:pt x="0" y="638969"/>
                </a:cubicBezTo>
                <a:lnTo>
                  <a:pt x="0" y="611188"/>
                </a:lnTo>
                <a:close/>
                <a:moveTo>
                  <a:pt x="0" y="528638"/>
                </a:moveTo>
                <a:lnTo>
                  <a:pt x="890228" y="528638"/>
                </a:lnTo>
                <a:lnTo>
                  <a:pt x="890228" y="556419"/>
                </a:lnTo>
                <a:cubicBezTo>
                  <a:pt x="890228" y="571378"/>
                  <a:pt x="877999" y="583844"/>
                  <a:pt x="862532" y="583844"/>
                </a:cubicBezTo>
                <a:lnTo>
                  <a:pt x="27696" y="583844"/>
                </a:lnTo>
                <a:cubicBezTo>
                  <a:pt x="12230" y="583844"/>
                  <a:pt x="0" y="571378"/>
                  <a:pt x="0" y="556419"/>
                </a:cubicBezTo>
                <a:lnTo>
                  <a:pt x="0" y="528638"/>
                </a:lnTo>
                <a:close/>
                <a:moveTo>
                  <a:pt x="668775" y="222250"/>
                </a:moveTo>
                <a:cubicBezTo>
                  <a:pt x="684091" y="222250"/>
                  <a:pt x="696557" y="234716"/>
                  <a:pt x="696557" y="250031"/>
                </a:cubicBezTo>
                <a:cubicBezTo>
                  <a:pt x="696557" y="264991"/>
                  <a:pt x="684091" y="277457"/>
                  <a:pt x="668775" y="277457"/>
                </a:cubicBezTo>
                <a:cubicBezTo>
                  <a:pt x="653460" y="277457"/>
                  <a:pt x="641350" y="264991"/>
                  <a:pt x="641350" y="250031"/>
                </a:cubicBezTo>
                <a:cubicBezTo>
                  <a:pt x="641350" y="234716"/>
                  <a:pt x="653460" y="222250"/>
                  <a:pt x="668775" y="222250"/>
                </a:cubicBezTo>
                <a:close/>
                <a:moveTo>
                  <a:pt x="223044" y="222250"/>
                </a:moveTo>
                <a:cubicBezTo>
                  <a:pt x="238359" y="222250"/>
                  <a:pt x="250469" y="234716"/>
                  <a:pt x="250469" y="250031"/>
                </a:cubicBezTo>
                <a:cubicBezTo>
                  <a:pt x="250469" y="264991"/>
                  <a:pt x="238359" y="277457"/>
                  <a:pt x="223044" y="277457"/>
                </a:cubicBezTo>
                <a:cubicBezTo>
                  <a:pt x="207729" y="277457"/>
                  <a:pt x="195263" y="264991"/>
                  <a:pt x="195263" y="250031"/>
                </a:cubicBezTo>
                <a:cubicBezTo>
                  <a:pt x="195263" y="234716"/>
                  <a:pt x="207729" y="222250"/>
                  <a:pt x="223044" y="222250"/>
                </a:cubicBezTo>
                <a:close/>
                <a:moveTo>
                  <a:pt x="446521" y="111125"/>
                </a:moveTo>
                <a:cubicBezTo>
                  <a:pt x="508256" y="111125"/>
                  <a:pt x="558439" y="173494"/>
                  <a:pt x="558439" y="250644"/>
                </a:cubicBezTo>
                <a:cubicBezTo>
                  <a:pt x="558439" y="327434"/>
                  <a:pt x="508256" y="390164"/>
                  <a:pt x="446521" y="390164"/>
                </a:cubicBezTo>
                <a:cubicBezTo>
                  <a:pt x="385146" y="390164"/>
                  <a:pt x="334963" y="327434"/>
                  <a:pt x="334963" y="250644"/>
                </a:cubicBezTo>
                <a:cubicBezTo>
                  <a:pt x="334963" y="173494"/>
                  <a:pt x="385146" y="111125"/>
                  <a:pt x="446521" y="111125"/>
                </a:cubicBezTo>
                <a:close/>
                <a:moveTo>
                  <a:pt x="139199" y="55459"/>
                </a:moveTo>
                <a:cubicBezTo>
                  <a:pt x="139199" y="101554"/>
                  <a:pt x="101792" y="139007"/>
                  <a:pt x="55752" y="139007"/>
                </a:cubicBezTo>
                <a:lnTo>
                  <a:pt x="55752" y="361922"/>
                </a:lnTo>
                <a:cubicBezTo>
                  <a:pt x="101792" y="361922"/>
                  <a:pt x="139199" y="399375"/>
                  <a:pt x="139199" y="445471"/>
                </a:cubicBezTo>
                <a:lnTo>
                  <a:pt x="751029" y="445471"/>
                </a:lnTo>
                <a:cubicBezTo>
                  <a:pt x="751029" y="399375"/>
                  <a:pt x="788437" y="361922"/>
                  <a:pt x="834477" y="361922"/>
                </a:cubicBezTo>
                <a:lnTo>
                  <a:pt x="834477" y="139007"/>
                </a:lnTo>
                <a:cubicBezTo>
                  <a:pt x="788437" y="139007"/>
                  <a:pt x="751029" y="101554"/>
                  <a:pt x="751029" y="55459"/>
                </a:cubicBezTo>
                <a:lnTo>
                  <a:pt x="139199" y="55459"/>
                </a:lnTo>
                <a:close/>
                <a:moveTo>
                  <a:pt x="27696" y="0"/>
                </a:moveTo>
                <a:lnTo>
                  <a:pt x="862532" y="0"/>
                </a:lnTo>
                <a:cubicBezTo>
                  <a:pt x="877999" y="0"/>
                  <a:pt x="890228" y="12244"/>
                  <a:pt x="890228" y="27729"/>
                </a:cubicBezTo>
                <a:lnTo>
                  <a:pt x="890228" y="473560"/>
                </a:lnTo>
                <a:cubicBezTo>
                  <a:pt x="890228" y="488685"/>
                  <a:pt x="877999" y="501290"/>
                  <a:pt x="862532" y="501290"/>
                </a:cubicBezTo>
                <a:lnTo>
                  <a:pt x="27696" y="501290"/>
                </a:lnTo>
                <a:cubicBezTo>
                  <a:pt x="12230" y="501290"/>
                  <a:pt x="0" y="488685"/>
                  <a:pt x="0" y="473560"/>
                </a:cubicBezTo>
                <a:lnTo>
                  <a:pt x="0" y="27729"/>
                </a:lnTo>
                <a:cubicBezTo>
                  <a:pt x="0" y="12244"/>
                  <a:pt x="12230" y="0"/>
                  <a:pt x="27696"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Lato Light"/>
              <a:ea typeface="Lato Light"/>
              <a:cs typeface="Lato Light"/>
              <a:sym typeface="Lato Light"/>
            </a:endParaRPr>
          </a:p>
        </p:txBody>
      </p:sp>
      <p:sp>
        <p:nvSpPr>
          <p:cNvPr id="165" name="Google Shape;165;p17"/>
          <p:cNvSpPr/>
          <p:nvPr/>
        </p:nvSpPr>
        <p:spPr>
          <a:xfrm rot="-2691217">
            <a:off x="4982790" y="1458149"/>
            <a:ext cx="2243653" cy="2243653"/>
          </a:xfrm>
          <a:prstGeom prst="diamond">
            <a:avLst/>
          </a:prstGeom>
          <a:solidFill>
            <a:schemeClr val="accent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66" name="Google Shape;166;p17"/>
          <p:cNvSpPr/>
          <p:nvPr/>
        </p:nvSpPr>
        <p:spPr>
          <a:xfrm>
            <a:off x="5744821" y="2228338"/>
            <a:ext cx="716949" cy="670246"/>
          </a:xfrm>
          <a:custGeom>
            <a:rect b="b" l="l" r="r" t="t"/>
            <a:pathLst>
              <a:path extrusionOk="0" h="842602" w="901340">
                <a:moveTo>
                  <a:pt x="619798" y="730250"/>
                </a:moveTo>
                <a:lnTo>
                  <a:pt x="845104" y="730250"/>
                </a:lnTo>
                <a:cubicBezTo>
                  <a:pt x="867093" y="752216"/>
                  <a:pt x="879350" y="764460"/>
                  <a:pt x="901340" y="786426"/>
                </a:cubicBezTo>
                <a:lnTo>
                  <a:pt x="901340" y="842602"/>
                </a:lnTo>
                <a:lnTo>
                  <a:pt x="563562" y="842602"/>
                </a:lnTo>
                <a:lnTo>
                  <a:pt x="563562" y="786426"/>
                </a:lnTo>
                <a:lnTo>
                  <a:pt x="619798" y="730250"/>
                </a:lnTo>
                <a:close/>
                <a:moveTo>
                  <a:pt x="56536" y="730250"/>
                </a:moveTo>
                <a:lnTo>
                  <a:pt x="281241" y="730250"/>
                </a:lnTo>
                <a:lnTo>
                  <a:pt x="337777" y="786426"/>
                </a:lnTo>
                <a:lnTo>
                  <a:pt x="337777" y="842602"/>
                </a:lnTo>
                <a:lnTo>
                  <a:pt x="0" y="842602"/>
                </a:lnTo>
                <a:lnTo>
                  <a:pt x="0" y="786426"/>
                </a:lnTo>
                <a:lnTo>
                  <a:pt x="56536" y="730250"/>
                </a:lnTo>
                <a:close/>
                <a:moveTo>
                  <a:pt x="318349" y="612775"/>
                </a:moveTo>
                <a:cubicBezTo>
                  <a:pt x="399252" y="655618"/>
                  <a:pt x="502089" y="655618"/>
                  <a:pt x="582992" y="612775"/>
                </a:cubicBezTo>
                <a:lnTo>
                  <a:pt x="609241" y="662402"/>
                </a:lnTo>
                <a:cubicBezTo>
                  <a:pt x="561058" y="687751"/>
                  <a:pt x="506044" y="701318"/>
                  <a:pt x="450670" y="701318"/>
                </a:cubicBezTo>
                <a:cubicBezTo>
                  <a:pt x="395297" y="701318"/>
                  <a:pt x="340642" y="687751"/>
                  <a:pt x="292100" y="662402"/>
                </a:cubicBezTo>
                <a:lnTo>
                  <a:pt x="318349" y="612775"/>
                </a:lnTo>
                <a:close/>
                <a:moveTo>
                  <a:pt x="732270" y="504825"/>
                </a:moveTo>
                <a:cubicBezTo>
                  <a:pt x="778892" y="504825"/>
                  <a:pt x="817201" y="542542"/>
                  <a:pt x="817201" y="588881"/>
                </a:cubicBezTo>
                <a:lnTo>
                  <a:pt x="817201" y="616900"/>
                </a:lnTo>
                <a:cubicBezTo>
                  <a:pt x="817201" y="663598"/>
                  <a:pt x="778892" y="701316"/>
                  <a:pt x="732270" y="701316"/>
                </a:cubicBezTo>
                <a:cubicBezTo>
                  <a:pt x="685648" y="701316"/>
                  <a:pt x="647700" y="663598"/>
                  <a:pt x="647700" y="616900"/>
                </a:cubicBezTo>
                <a:lnTo>
                  <a:pt x="647700" y="588881"/>
                </a:lnTo>
                <a:cubicBezTo>
                  <a:pt x="647700" y="542542"/>
                  <a:pt x="685648" y="504825"/>
                  <a:pt x="732270" y="504825"/>
                </a:cubicBezTo>
                <a:close/>
                <a:moveTo>
                  <a:pt x="168095" y="504825"/>
                </a:moveTo>
                <a:cubicBezTo>
                  <a:pt x="214739" y="504825"/>
                  <a:pt x="252053" y="542542"/>
                  <a:pt x="252053" y="588881"/>
                </a:cubicBezTo>
                <a:lnTo>
                  <a:pt x="252053" y="616900"/>
                </a:lnTo>
                <a:cubicBezTo>
                  <a:pt x="252053" y="663598"/>
                  <a:pt x="214739" y="701316"/>
                  <a:pt x="168095" y="701316"/>
                </a:cubicBezTo>
                <a:cubicBezTo>
                  <a:pt x="121811" y="701316"/>
                  <a:pt x="84137" y="663598"/>
                  <a:pt x="84137" y="616900"/>
                </a:cubicBezTo>
                <a:lnTo>
                  <a:pt x="84137" y="588881"/>
                </a:lnTo>
                <a:cubicBezTo>
                  <a:pt x="84137" y="542542"/>
                  <a:pt x="121811" y="504825"/>
                  <a:pt x="168095" y="504825"/>
                </a:cubicBezTo>
                <a:close/>
                <a:moveTo>
                  <a:pt x="337524" y="223837"/>
                </a:moveTo>
                <a:lnTo>
                  <a:pt x="562589" y="223837"/>
                </a:lnTo>
                <a:cubicBezTo>
                  <a:pt x="584555" y="245803"/>
                  <a:pt x="596799" y="258407"/>
                  <a:pt x="618765" y="280013"/>
                </a:cubicBezTo>
                <a:lnTo>
                  <a:pt x="618765" y="336190"/>
                </a:lnTo>
                <a:lnTo>
                  <a:pt x="280987" y="336190"/>
                </a:lnTo>
                <a:lnTo>
                  <a:pt x="280987" y="280013"/>
                </a:lnTo>
                <a:cubicBezTo>
                  <a:pt x="302954" y="258407"/>
                  <a:pt x="315557" y="245803"/>
                  <a:pt x="337524" y="223837"/>
                </a:cubicBezTo>
                <a:close/>
                <a:moveTo>
                  <a:pt x="637877" y="142875"/>
                </a:moveTo>
                <a:cubicBezTo>
                  <a:pt x="732230" y="205605"/>
                  <a:pt x="788626" y="309794"/>
                  <a:pt x="788626" y="421914"/>
                </a:cubicBezTo>
                <a:lnTo>
                  <a:pt x="732230" y="421914"/>
                </a:lnTo>
                <a:cubicBezTo>
                  <a:pt x="732230" y="328901"/>
                  <a:pt x="685234" y="242017"/>
                  <a:pt x="606425" y="189742"/>
                </a:cubicBezTo>
                <a:lnTo>
                  <a:pt x="637877" y="142875"/>
                </a:lnTo>
                <a:close/>
                <a:moveTo>
                  <a:pt x="261899" y="142875"/>
                </a:moveTo>
                <a:lnTo>
                  <a:pt x="293326" y="189657"/>
                </a:lnTo>
                <a:cubicBezTo>
                  <a:pt x="215301" y="241477"/>
                  <a:pt x="169064" y="327843"/>
                  <a:pt x="169064" y="420327"/>
                </a:cubicBezTo>
                <a:lnTo>
                  <a:pt x="112712" y="420327"/>
                </a:lnTo>
                <a:cubicBezTo>
                  <a:pt x="112712" y="309130"/>
                  <a:pt x="168341" y="205491"/>
                  <a:pt x="261899" y="142875"/>
                </a:cubicBezTo>
                <a:close/>
                <a:moveTo>
                  <a:pt x="450670" y="0"/>
                </a:moveTo>
                <a:cubicBezTo>
                  <a:pt x="496955" y="0"/>
                  <a:pt x="534628" y="37717"/>
                  <a:pt x="534628" y="84415"/>
                </a:cubicBezTo>
                <a:lnTo>
                  <a:pt x="534628" y="112434"/>
                </a:lnTo>
                <a:cubicBezTo>
                  <a:pt x="534628" y="158773"/>
                  <a:pt x="496955" y="196491"/>
                  <a:pt x="450670" y="196491"/>
                </a:cubicBezTo>
                <a:cubicBezTo>
                  <a:pt x="404386" y="196491"/>
                  <a:pt x="366712" y="158773"/>
                  <a:pt x="366712" y="112434"/>
                </a:cubicBezTo>
                <a:lnTo>
                  <a:pt x="366712" y="84415"/>
                </a:lnTo>
                <a:cubicBezTo>
                  <a:pt x="366712" y="37717"/>
                  <a:pt x="404386" y="0"/>
                  <a:pt x="45067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Lato Light"/>
              <a:ea typeface="Lato Light"/>
              <a:cs typeface="Lato Light"/>
              <a:sym typeface="Lato Light"/>
            </a:endParaRPr>
          </a:p>
        </p:txBody>
      </p:sp>
      <p:sp>
        <p:nvSpPr>
          <p:cNvPr id="167" name="Google Shape;167;p17"/>
          <p:cNvSpPr txBox="1"/>
          <p:nvPr/>
        </p:nvSpPr>
        <p:spPr>
          <a:xfrm>
            <a:off x="1375681" y="3346909"/>
            <a:ext cx="1962471" cy="830997"/>
          </a:xfrm>
          <a:prstGeom prst="rect">
            <a:avLst/>
          </a:prstGeom>
          <a:noFill/>
          <a:ln>
            <a:noFill/>
          </a:ln>
        </p:spPr>
        <p:txBody>
          <a:bodyPr anchorCtr="0" anchor="b"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Patient Profile Intelligence</a:t>
            </a:r>
            <a:endParaRPr/>
          </a:p>
        </p:txBody>
      </p:sp>
      <p:sp>
        <p:nvSpPr>
          <p:cNvPr id="168" name="Google Shape;168;p17"/>
          <p:cNvSpPr txBox="1"/>
          <p:nvPr/>
        </p:nvSpPr>
        <p:spPr>
          <a:xfrm>
            <a:off x="5029464" y="3422647"/>
            <a:ext cx="2165321" cy="584775"/>
          </a:xfrm>
          <a:prstGeom prst="rect">
            <a:avLst/>
          </a:prstGeom>
          <a:noFill/>
          <a:ln>
            <a:noFill/>
          </a:ln>
        </p:spPr>
        <p:txBody>
          <a:bodyPr anchorCtr="0" anchor="b"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Hospital Utilization Efficiency</a:t>
            </a:r>
            <a:endParaRPr/>
          </a:p>
        </p:txBody>
      </p:sp>
      <p:sp>
        <p:nvSpPr>
          <p:cNvPr id="169" name="Google Shape;169;p17"/>
          <p:cNvSpPr txBox="1"/>
          <p:nvPr/>
        </p:nvSpPr>
        <p:spPr>
          <a:xfrm>
            <a:off x="3253846" y="5551768"/>
            <a:ext cx="2021100" cy="831000"/>
          </a:xfrm>
          <a:prstGeom prst="rect">
            <a:avLst/>
          </a:prstGeom>
          <a:noFill/>
          <a:ln>
            <a:noFill/>
          </a:ln>
        </p:spPr>
        <p:txBody>
          <a:bodyPr anchorCtr="0" anchor="b"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Medical Condition Analytics</a:t>
            </a:r>
            <a:endParaRPr/>
          </a:p>
        </p:txBody>
      </p:sp>
      <p:sp>
        <p:nvSpPr>
          <p:cNvPr id="170" name="Google Shape;170;p17"/>
          <p:cNvSpPr txBox="1"/>
          <p:nvPr/>
        </p:nvSpPr>
        <p:spPr>
          <a:xfrm>
            <a:off x="8773971" y="3409530"/>
            <a:ext cx="2138690" cy="830997"/>
          </a:xfrm>
          <a:prstGeom prst="rect">
            <a:avLst/>
          </a:prstGeom>
          <a:noFill/>
          <a:ln>
            <a:noFill/>
          </a:ln>
        </p:spPr>
        <p:txBody>
          <a:bodyPr anchorCtr="0" anchor="b"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Revenue &amp; Billing Optimization</a:t>
            </a:r>
            <a:endParaRPr/>
          </a:p>
        </p:txBody>
      </p:sp>
      <p:sp>
        <p:nvSpPr>
          <p:cNvPr id="171" name="Google Shape;171;p17"/>
          <p:cNvSpPr txBox="1"/>
          <p:nvPr/>
        </p:nvSpPr>
        <p:spPr>
          <a:xfrm>
            <a:off x="6807200" y="5551767"/>
            <a:ext cx="2529840" cy="584775"/>
          </a:xfrm>
          <a:prstGeom prst="rect">
            <a:avLst/>
          </a:prstGeom>
          <a:noFill/>
          <a:ln>
            <a:noFill/>
          </a:ln>
        </p:spPr>
        <p:txBody>
          <a:bodyPr anchorCtr="0" anchor="b" bIns="45700" lIns="91425" spcFirstLastPara="1" rIns="91425" wrap="square" tIns="45700">
            <a:spAutoFit/>
          </a:bodyPr>
          <a:lstStyle/>
          <a:p>
            <a:pPr indent="0" lvl="0" marL="0" marR="0" rtl="0" algn="ctr">
              <a:spcBef>
                <a:spcPts val="0"/>
              </a:spcBef>
              <a:spcAft>
                <a:spcPts val="0"/>
              </a:spcAft>
              <a:buNone/>
            </a:pPr>
            <a:r>
              <a:rPr b="1" lang="en-US" sz="1600">
                <a:solidFill>
                  <a:schemeClr val="dk2"/>
                </a:solidFill>
                <a:latin typeface="Poppins"/>
                <a:ea typeface="Poppins"/>
                <a:cs typeface="Poppins"/>
                <a:sym typeface="Poppins"/>
              </a:rPr>
              <a:t>Insurance Coverage Optimization</a:t>
            </a:r>
            <a:endParaRPr/>
          </a:p>
        </p:txBody>
      </p:sp>
      <p:pic>
        <p:nvPicPr>
          <p:cNvPr descr="Address Book outline" id="172" name="Google Shape;172;p17"/>
          <p:cNvPicPr preferRelativeResize="0"/>
          <p:nvPr/>
        </p:nvPicPr>
        <p:blipFill rotWithShape="1">
          <a:blip r:embed="rId3">
            <a:alphaModFix/>
          </a:blip>
          <a:srcRect b="0" l="0" r="0" t="0"/>
          <a:stretch/>
        </p:blipFill>
        <p:spPr>
          <a:xfrm>
            <a:off x="1899716" y="2100861"/>
            <a:ext cx="914400" cy="914400"/>
          </a:xfrm>
          <a:prstGeom prst="rect">
            <a:avLst/>
          </a:prstGeom>
          <a:noFill/>
          <a:ln>
            <a:noFill/>
          </a:ln>
        </p:spPr>
      </p:pic>
      <p:sp>
        <p:nvSpPr>
          <p:cNvPr id="173" name="Google Shape;173;p17"/>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174" name="Google Shape;174;p17"/>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nvSpPr>
        <p:spPr>
          <a:xfrm>
            <a:off x="1968386" y="3075057"/>
            <a:ext cx="708134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DATA WAREHOUSE DESIGN</a:t>
            </a:r>
            <a:endParaRPr b="1" sz="4000">
              <a:solidFill>
                <a:schemeClr val="dk2"/>
              </a:solidFill>
              <a:latin typeface="Poppins"/>
              <a:ea typeface="Poppins"/>
              <a:cs typeface="Poppins"/>
              <a:sym typeface="Poppins"/>
            </a:endParaRPr>
          </a:p>
        </p:txBody>
      </p:sp>
      <p:pic>
        <p:nvPicPr>
          <p:cNvPr id="180" name="Google Shape;180;p18"/>
          <p:cNvPicPr preferRelativeResize="0"/>
          <p:nvPr/>
        </p:nvPicPr>
        <p:blipFill rotWithShape="1">
          <a:blip r:embed="rId3">
            <a:alphaModFix/>
          </a:blip>
          <a:srcRect b="0" l="0" r="0" t="0"/>
          <a:stretch/>
        </p:blipFill>
        <p:spPr>
          <a:xfrm>
            <a:off x="8920411" y="2419468"/>
            <a:ext cx="1956823" cy="18107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nvSpPr>
        <p:spPr>
          <a:xfrm>
            <a:off x="2917119" y="267409"/>
            <a:ext cx="603081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DATASET DESCRIPTION</a:t>
            </a:r>
            <a:endParaRPr/>
          </a:p>
        </p:txBody>
      </p:sp>
      <p:sp>
        <p:nvSpPr>
          <p:cNvPr id="186" name="Google Shape;186;p19"/>
          <p:cNvSpPr txBox="1"/>
          <p:nvPr/>
        </p:nvSpPr>
        <p:spPr>
          <a:xfrm>
            <a:off x="1206479" y="1790581"/>
            <a:ext cx="237744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cap="none">
                <a:solidFill>
                  <a:schemeClr val="dk1"/>
                </a:solidFill>
                <a:latin typeface="Poppins"/>
                <a:ea typeface="Poppins"/>
                <a:cs typeface="Poppins"/>
                <a:sym typeface="Poppins"/>
              </a:rPr>
              <a:t>DATA GRAIN</a:t>
            </a:r>
            <a:endParaRPr b="1" sz="2000">
              <a:solidFill>
                <a:schemeClr val="dk1"/>
              </a:solidFill>
              <a:latin typeface="Open Sans Light"/>
              <a:ea typeface="Open Sans Light"/>
              <a:cs typeface="Open Sans Light"/>
              <a:sym typeface="Open Sans Light"/>
            </a:endParaRPr>
          </a:p>
        </p:txBody>
      </p:sp>
      <p:grpSp>
        <p:nvGrpSpPr>
          <p:cNvPr id="187" name="Google Shape;187;p19"/>
          <p:cNvGrpSpPr/>
          <p:nvPr/>
        </p:nvGrpSpPr>
        <p:grpSpPr>
          <a:xfrm rot="-5400000">
            <a:off x="9549113" y="848423"/>
            <a:ext cx="365165" cy="2925436"/>
            <a:chOff x="6923737" y="1560713"/>
            <a:chExt cx="1054502" cy="3280391"/>
          </a:xfrm>
        </p:grpSpPr>
        <p:sp>
          <p:nvSpPr>
            <p:cNvPr id="188" name="Google Shape;188;p19"/>
            <p:cNvSpPr/>
            <p:nvPr/>
          </p:nvSpPr>
          <p:spPr>
            <a:xfrm>
              <a:off x="6924070" y="1926586"/>
              <a:ext cx="702777" cy="2914518"/>
            </a:xfrm>
            <a:prstGeom prst="rect">
              <a:avLst/>
            </a:prstGeom>
            <a:solidFill>
              <a:schemeClr val="accent3"/>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89" name="Google Shape;189;p19"/>
            <p:cNvSpPr/>
            <p:nvPr/>
          </p:nvSpPr>
          <p:spPr>
            <a:xfrm>
              <a:off x="6923737" y="1562852"/>
              <a:ext cx="1051986" cy="363734"/>
            </a:xfrm>
            <a:custGeom>
              <a:rect b="b" l="l" r="r" t="t"/>
              <a:pathLst>
                <a:path extrusionOk="0" h="21600" w="21600">
                  <a:moveTo>
                    <a:pt x="7222" y="149"/>
                  </a:moveTo>
                  <a:lnTo>
                    <a:pt x="21600" y="0"/>
                  </a:lnTo>
                  <a:lnTo>
                    <a:pt x="14585" y="21600"/>
                  </a:lnTo>
                  <a:lnTo>
                    <a:pt x="0" y="21600"/>
                  </a:lnTo>
                  <a:lnTo>
                    <a:pt x="7222" y="149"/>
                  </a:lnTo>
                  <a:close/>
                </a:path>
              </a:pathLst>
            </a:custGeom>
            <a:solidFill>
              <a:srgbClr val="D6B175"/>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90" name="Google Shape;190;p19"/>
            <p:cNvSpPr/>
            <p:nvPr/>
          </p:nvSpPr>
          <p:spPr>
            <a:xfrm>
              <a:off x="7626850" y="1560713"/>
              <a:ext cx="351389" cy="3280390"/>
            </a:xfrm>
            <a:custGeom>
              <a:rect b="b" l="l" r="r" t="t"/>
              <a:pathLst>
                <a:path extrusionOk="0" h="21600" w="21600">
                  <a:moveTo>
                    <a:pt x="0" y="2399"/>
                  </a:moveTo>
                  <a:lnTo>
                    <a:pt x="21485" y="0"/>
                  </a:lnTo>
                  <a:lnTo>
                    <a:pt x="21600" y="18556"/>
                  </a:lnTo>
                  <a:lnTo>
                    <a:pt x="0" y="21600"/>
                  </a:lnTo>
                  <a:lnTo>
                    <a:pt x="0" y="2399"/>
                  </a:lnTo>
                  <a:close/>
                </a:path>
              </a:pathLst>
            </a:custGeom>
            <a:solidFill>
              <a:srgbClr val="7B5A24"/>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grpSp>
      <p:sp>
        <p:nvSpPr>
          <p:cNvPr id="191" name="Google Shape;191;p19"/>
          <p:cNvSpPr txBox="1"/>
          <p:nvPr/>
        </p:nvSpPr>
        <p:spPr>
          <a:xfrm>
            <a:off x="4701865" y="1790581"/>
            <a:ext cx="237744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cap="none">
                <a:solidFill>
                  <a:schemeClr val="dk1"/>
                </a:solidFill>
                <a:latin typeface="Poppins"/>
                <a:ea typeface="Poppins"/>
                <a:cs typeface="Poppins"/>
                <a:sym typeface="Poppins"/>
              </a:rPr>
              <a:t>FACTS</a:t>
            </a:r>
            <a:endParaRPr b="1" sz="2000">
              <a:solidFill>
                <a:schemeClr val="dk1"/>
              </a:solidFill>
              <a:latin typeface="Open Sans Light"/>
              <a:ea typeface="Open Sans Light"/>
              <a:cs typeface="Open Sans Light"/>
              <a:sym typeface="Open Sans Light"/>
            </a:endParaRPr>
          </a:p>
        </p:txBody>
      </p:sp>
      <p:sp>
        <p:nvSpPr>
          <p:cNvPr id="192" name="Google Shape;192;p19"/>
          <p:cNvSpPr txBox="1"/>
          <p:nvPr/>
        </p:nvSpPr>
        <p:spPr>
          <a:xfrm>
            <a:off x="8433073" y="1821788"/>
            <a:ext cx="237744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cap="none">
                <a:solidFill>
                  <a:schemeClr val="dk1"/>
                </a:solidFill>
                <a:latin typeface="Poppins"/>
                <a:ea typeface="Poppins"/>
                <a:cs typeface="Poppins"/>
                <a:sym typeface="Poppins"/>
              </a:rPr>
              <a:t>DIMENSIONS</a:t>
            </a:r>
            <a:endParaRPr b="1" sz="2000">
              <a:solidFill>
                <a:schemeClr val="dk1"/>
              </a:solidFill>
              <a:latin typeface="Open Sans Light"/>
              <a:ea typeface="Open Sans Light"/>
              <a:cs typeface="Open Sans Light"/>
              <a:sym typeface="Open Sans Light"/>
            </a:endParaRPr>
          </a:p>
        </p:txBody>
      </p:sp>
      <p:sp>
        <p:nvSpPr>
          <p:cNvPr id="193" name="Google Shape;193;p19"/>
          <p:cNvSpPr txBox="1"/>
          <p:nvPr/>
        </p:nvSpPr>
        <p:spPr>
          <a:xfrm>
            <a:off x="1219843" y="2734641"/>
            <a:ext cx="2853673"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oppins"/>
                <a:ea typeface="Poppins"/>
                <a:cs typeface="Poppins"/>
                <a:sym typeface="Poppins"/>
              </a:rPr>
              <a:t>One row per patient</a:t>
            </a:r>
            <a:r>
              <a:rPr i="0" lang="en-US" sz="1800" cap="none">
                <a:solidFill>
                  <a:schemeClr val="dk1"/>
                </a:solidFill>
                <a:latin typeface="Poppins"/>
                <a:ea typeface="Poppins"/>
                <a:cs typeface="Poppins"/>
                <a:sym typeface="Poppins"/>
              </a:rPr>
              <a:t> in the dataset will represent a unique patient encounter, capturing relevant information such as patient demographics, medical conditions, treatments, and outcomes for that encounter.</a:t>
            </a:r>
            <a:endParaRPr b="1" i="0" sz="1800" cap="none">
              <a:solidFill>
                <a:schemeClr val="dk1"/>
              </a:solidFill>
              <a:latin typeface="Poppins"/>
              <a:ea typeface="Poppins"/>
              <a:cs typeface="Poppins"/>
              <a:sym typeface="Poppins"/>
            </a:endParaRPr>
          </a:p>
        </p:txBody>
      </p:sp>
      <p:sp>
        <p:nvSpPr>
          <p:cNvPr id="194" name="Google Shape;194;p19"/>
          <p:cNvSpPr txBox="1"/>
          <p:nvPr/>
        </p:nvSpPr>
        <p:spPr>
          <a:xfrm>
            <a:off x="8595261" y="2734641"/>
            <a:ext cx="2853673" cy="101566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02122"/>
              </a:buClr>
              <a:buSzPts val="2000"/>
              <a:buFont typeface="Arial"/>
              <a:buChar char="•"/>
            </a:pPr>
            <a:r>
              <a:rPr lang="en-US" sz="2000">
                <a:solidFill>
                  <a:srgbClr val="202122"/>
                </a:solidFill>
                <a:latin typeface="Lato"/>
                <a:ea typeface="Lato"/>
                <a:cs typeface="Lato"/>
                <a:sym typeface="Lato"/>
              </a:rPr>
              <a:t>Patient</a:t>
            </a:r>
            <a:endParaRPr b="0" i="0" sz="2000">
              <a:solidFill>
                <a:srgbClr val="202122"/>
              </a:solidFill>
              <a:latin typeface="Lato"/>
              <a:ea typeface="Lato"/>
              <a:cs typeface="Lato"/>
              <a:sym typeface="Lato"/>
            </a:endParaRPr>
          </a:p>
          <a:p>
            <a:pPr indent="-285750" lvl="0" marL="285750" marR="0" rtl="0" algn="l">
              <a:spcBef>
                <a:spcPts val="0"/>
              </a:spcBef>
              <a:spcAft>
                <a:spcPts val="0"/>
              </a:spcAft>
              <a:buClr>
                <a:srgbClr val="202122"/>
              </a:buClr>
              <a:buSzPts val="2000"/>
              <a:buFont typeface="Arial"/>
              <a:buChar char="•"/>
            </a:pPr>
            <a:r>
              <a:rPr b="0" i="0" lang="en-US" sz="2000">
                <a:solidFill>
                  <a:srgbClr val="202122"/>
                </a:solidFill>
                <a:latin typeface="Lato"/>
                <a:ea typeface="Lato"/>
                <a:cs typeface="Lato"/>
                <a:sym typeface="Lato"/>
              </a:rPr>
              <a:t>Hospital</a:t>
            </a:r>
            <a:endParaRPr/>
          </a:p>
          <a:p>
            <a:pPr indent="-285750" lvl="0" marL="285750" marR="0" rtl="0" algn="l">
              <a:spcBef>
                <a:spcPts val="0"/>
              </a:spcBef>
              <a:spcAft>
                <a:spcPts val="0"/>
              </a:spcAft>
              <a:buClr>
                <a:srgbClr val="202122"/>
              </a:buClr>
              <a:buSzPts val="2000"/>
              <a:buFont typeface="Arial"/>
              <a:buChar char="•"/>
            </a:pPr>
            <a:r>
              <a:rPr b="0" i="0" lang="en-US" sz="2000">
                <a:solidFill>
                  <a:srgbClr val="202122"/>
                </a:solidFill>
                <a:latin typeface="Lato"/>
                <a:ea typeface="Lato"/>
                <a:cs typeface="Lato"/>
                <a:sym typeface="Lato"/>
              </a:rPr>
              <a:t>Insurance Provider</a:t>
            </a:r>
            <a:endParaRPr b="1" i="0" sz="2000" cap="none">
              <a:solidFill>
                <a:schemeClr val="dk1"/>
              </a:solidFill>
              <a:latin typeface="Poppins"/>
              <a:ea typeface="Poppins"/>
              <a:cs typeface="Poppins"/>
              <a:sym typeface="Poppins"/>
            </a:endParaRPr>
          </a:p>
        </p:txBody>
      </p:sp>
      <p:cxnSp>
        <p:nvCxnSpPr>
          <p:cNvPr id="195" name="Google Shape;195;p19"/>
          <p:cNvCxnSpPr/>
          <p:nvPr/>
        </p:nvCxnSpPr>
        <p:spPr>
          <a:xfrm>
            <a:off x="4297680" y="1790581"/>
            <a:ext cx="0" cy="4000619"/>
          </a:xfrm>
          <a:prstGeom prst="straightConnector1">
            <a:avLst/>
          </a:prstGeom>
          <a:noFill/>
          <a:ln cap="flat" cmpd="sng" w="9525">
            <a:solidFill>
              <a:schemeClr val="accent1"/>
            </a:solidFill>
            <a:prstDash val="solid"/>
            <a:miter lim="800000"/>
            <a:headEnd len="sm" w="sm" type="none"/>
            <a:tailEnd len="sm" w="sm" type="none"/>
          </a:ln>
        </p:spPr>
      </p:cxnSp>
      <p:cxnSp>
        <p:nvCxnSpPr>
          <p:cNvPr id="196" name="Google Shape;196;p19"/>
          <p:cNvCxnSpPr/>
          <p:nvPr/>
        </p:nvCxnSpPr>
        <p:spPr>
          <a:xfrm>
            <a:off x="7985760" y="1790581"/>
            <a:ext cx="0" cy="4000619"/>
          </a:xfrm>
          <a:prstGeom prst="straightConnector1">
            <a:avLst/>
          </a:prstGeom>
          <a:noFill/>
          <a:ln cap="flat" cmpd="sng" w="9525">
            <a:solidFill>
              <a:schemeClr val="accent1"/>
            </a:solidFill>
            <a:prstDash val="solid"/>
            <a:miter lim="800000"/>
            <a:headEnd len="sm" w="sm" type="none"/>
            <a:tailEnd len="sm" w="sm" type="none"/>
          </a:ln>
        </p:spPr>
      </p:cxnSp>
      <p:grpSp>
        <p:nvGrpSpPr>
          <p:cNvPr id="197" name="Google Shape;197;p19"/>
          <p:cNvGrpSpPr/>
          <p:nvPr/>
        </p:nvGrpSpPr>
        <p:grpSpPr>
          <a:xfrm rot="-5400000">
            <a:off x="2332997" y="847984"/>
            <a:ext cx="364292" cy="2925435"/>
            <a:chOff x="9268922" y="1560712"/>
            <a:chExt cx="1054503" cy="3280390"/>
          </a:xfrm>
        </p:grpSpPr>
        <p:sp>
          <p:nvSpPr>
            <p:cNvPr id="198" name="Google Shape;198;p19"/>
            <p:cNvSpPr/>
            <p:nvPr/>
          </p:nvSpPr>
          <p:spPr>
            <a:xfrm>
              <a:off x="9269254" y="1925923"/>
              <a:ext cx="702777" cy="2914518"/>
            </a:xfrm>
            <a:prstGeom prst="rect">
              <a:avLst/>
            </a:prstGeom>
            <a:solidFill>
              <a:schemeClr val="accent4"/>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199" name="Google Shape;199;p19"/>
            <p:cNvSpPr/>
            <p:nvPr/>
          </p:nvSpPr>
          <p:spPr>
            <a:xfrm>
              <a:off x="9268922" y="1562851"/>
              <a:ext cx="1051986" cy="363734"/>
            </a:xfrm>
            <a:custGeom>
              <a:rect b="b" l="l" r="r" t="t"/>
              <a:pathLst>
                <a:path extrusionOk="0" h="21600" w="21600">
                  <a:moveTo>
                    <a:pt x="7222" y="149"/>
                  </a:moveTo>
                  <a:lnTo>
                    <a:pt x="21600" y="0"/>
                  </a:lnTo>
                  <a:lnTo>
                    <a:pt x="14585" y="21600"/>
                  </a:lnTo>
                  <a:lnTo>
                    <a:pt x="0" y="21600"/>
                  </a:lnTo>
                  <a:lnTo>
                    <a:pt x="7222" y="149"/>
                  </a:lnTo>
                  <a:close/>
                </a:path>
              </a:pathLst>
            </a:custGeom>
            <a:solidFill>
              <a:srgbClr val="34ADE9"/>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200" name="Google Shape;200;p19"/>
            <p:cNvSpPr/>
            <p:nvPr/>
          </p:nvSpPr>
          <p:spPr>
            <a:xfrm>
              <a:off x="9972036" y="1560712"/>
              <a:ext cx="351389" cy="3280390"/>
            </a:xfrm>
            <a:custGeom>
              <a:rect b="b" l="l" r="r" t="t"/>
              <a:pathLst>
                <a:path extrusionOk="0" h="21600" w="21600">
                  <a:moveTo>
                    <a:pt x="0" y="2399"/>
                  </a:moveTo>
                  <a:lnTo>
                    <a:pt x="21485" y="0"/>
                  </a:lnTo>
                  <a:lnTo>
                    <a:pt x="21600" y="18556"/>
                  </a:lnTo>
                  <a:lnTo>
                    <a:pt x="0" y="21600"/>
                  </a:lnTo>
                  <a:lnTo>
                    <a:pt x="0" y="2399"/>
                  </a:lnTo>
                  <a:close/>
                </a:path>
              </a:pathLst>
            </a:custGeom>
            <a:solidFill>
              <a:srgbClr val="0A415D"/>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grpSp>
      <p:grpSp>
        <p:nvGrpSpPr>
          <p:cNvPr id="201" name="Google Shape;201;p19"/>
          <p:cNvGrpSpPr/>
          <p:nvPr/>
        </p:nvGrpSpPr>
        <p:grpSpPr>
          <a:xfrm rot="-5400000">
            <a:off x="5913853" y="847867"/>
            <a:ext cx="364295" cy="2925436"/>
            <a:chOff x="4576043" y="1560712"/>
            <a:chExt cx="1054501" cy="3280390"/>
          </a:xfrm>
        </p:grpSpPr>
        <p:sp>
          <p:nvSpPr>
            <p:cNvPr id="202" name="Google Shape;202;p19"/>
            <p:cNvSpPr/>
            <p:nvPr/>
          </p:nvSpPr>
          <p:spPr>
            <a:xfrm>
              <a:off x="4576377" y="1925923"/>
              <a:ext cx="702777" cy="2914518"/>
            </a:xfrm>
            <a:prstGeom prst="rect">
              <a:avLst/>
            </a:prstGeom>
            <a:solidFill>
              <a:schemeClr val="accent2"/>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203" name="Google Shape;203;p19"/>
            <p:cNvSpPr/>
            <p:nvPr/>
          </p:nvSpPr>
          <p:spPr>
            <a:xfrm>
              <a:off x="4576043" y="1562851"/>
              <a:ext cx="1054498" cy="363734"/>
            </a:xfrm>
            <a:custGeom>
              <a:rect b="b" l="l" r="r" t="t"/>
              <a:pathLst>
                <a:path extrusionOk="0" h="21600" w="21600">
                  <a:moveTo>
                    <a:pt x="7205" y="149"/>
                  </a:moveTo>
                  <a:lnTo>
                    <a:pt x="21600" y="0"/>
                  </a:lnTo>
                  <a:lnTo>
                    <a:pt x="14447" y="21600"/>
                  </a:lnTo>
                  <a:lnTo>
                    <a:pt x="0" y="21600"/>
                  </a:lnTo>
                  <a:lnTo>
                    <a:pt x="7205" y="149"/>
                  </a:lnTo>
                  <a:close/>
                </a:path>
              </a:pathLst>
            </a:custGeom>
            <a:solidFill>
              <a:srgbClr val="D5C3C5"/>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sp>
          <p:nvSpPr>
            <p:cNvPr id="204" name="Google Shape;204;p19"/>
            <p:cNvSpPr/>
            <p:nvPr/>
          </p:nvSpPr>
          <p:spPr>
            <a:xfrm>
              <a:off x="5279155" y="1560712"/>
              <a:ext cx="351389" cy="3280390"/>
            </a:xfrm>
            <a:custGeom>
              <a:rect b="b" l="l" r="r" t="t"/>
              <a:pathLst>
                <a:path extrusionOk="0" h="21600" w="21600">
                  <a:moveTo>
                    <a:pt x="0" y="2415"/>
                  </a:moveTo>
                  <a:lnTo>
                    <a:pt x="21600" y="0"/>
                  </a:lnTo>
                  <a:lnTo>
                    <a:pt x="21600" y="18556"/>
                  </a:lnTo>
                  <a:lnTo>
                    <a:pt x="0" y="21600"/>
                  </a:lnTo>
                  <a:lnTo>
                    <a:pt x="0" y="2415"/>
                  </a:lnTo>
                  <a:close/>
                </a:path>
              </a:pathLst>
            </a:custGeom>
            <a:solidFill>
              <a:srgbClr val="96696F"/>
            </a:solidFill>
            <a:ln>
              <a:noFill/>
            </a:ln>
          </p:spPr>
          <p:txBody>
            <a:bodyPr anchorCtr="0" anchor="ctr" bIns="35700" lIns="35700" spcFirstLastPara="1" rIns="35700" wrap="square" tIns="35700">
              <a:noAutofit/>
            </a:bodyPr>
            <a:lstStyle/>
            <a:p>
              <a:pPr indent="0" lvl="0" marL="0" marR="0" rtl="0" algn="l">
                <a:spcBef>
                  <a:spcPts val="0"/>
                </a:spcBef>
                <a:spcAft>
                  <a:spcPts val="0"/>
                </a:spcAft>
                <a:buNone/>
              </a:pPr>
              <a:r>
                <a:t/>
              </a:r>
              <a:endParaRPr sz="2532">
                <a:solidFill>
                  <a:schemeClr val="dk1"/>
                </a:solidFill>
                <a:latin typeface="Lato Light"/>
                <a:ea typeface="Lato Light"/>
                <a:cs typeface="Lato Light"/>
                <a:sym typeface="Lato Light"/>
              </a:endParaRPr>
            </a:p>
          </p:txBody>
        </p:sp>
      </p:grpSp>
      <p:sp>
        <p:nvSpPr>
          <p:cNvPr id="205" name="Google Shape;205;p19"/>
          <p:cNvSpPr txBox="1"/>
          <p:nvPr/>
        </p:nvSpPr>
        <p:spPr>
          <a:xfrm>
            <a:off x="4607091" y="2734641"/>
            <a:ext cx="336991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oppins"/>
                <a:ea typeface="Poppins"/>
                <a:cs typeface="Poppins"/>
                <a:sym typeface="Poppins"/>
              </a:rPr>
              <a:t>Hospital Encounter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HospitalEncounterID (PK)</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PatientID (FK)</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HospitalID (FK)</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InsuranceProviderID (FK)</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MedicationResult</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LengthOfStay</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BillingAmount</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AmountPaid</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AmountOwed</a:t>
            </a:r>
            <a:endParaRPr sz="1800">
              <a:solidFill>
                <a:schemeClr val="dk1"/>
              </a:solidFill>
              <a:latin typeface="Poppins"/>
              <a:ea typeface="Poppins"/>
              <a:cs typeface="Poppins"/>
              <a:sym typeface="Poppins"/>
            </a:endParaRPr>
          </a:p>
        </p:txBody>
      </p:sp>
      <p:sp>
        <p:nvSpPr>
          <p:cNvPr id="206" name="Google Shape;206;p19"/>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07" name="Google Shape;207;p19"/>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13" name="Google Shape;213;p20"/>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214" name="Google Shape;214;p20"/>
          <p:cNvPicPr preferRelativeResize="0"/>
          <p:nvPr/>
        </p:nvPicPr>
        <p:blipFill rotWithShape="1">
          <a:blip r:embed="rId3">
            <a:alphaModFix/>
          </a:blip>
          <a:srcRect b="0" l="0" r="0" t="0"/>
          <a:stretch/>
        </p:blipFill>
        <p:spPr>
          <a:xfrm>
            <a:off x="2619692" y="859955"/>
            <a:ext cx="6952614" cy="5788846"/>
          </a:xfrm>
          <a:prstGeom prst="rect">
            <a:avLst/>
          </a:prstGeom>
          <a:noFill/>
          <a:ln>
            <a:noFill/>
          </a:ln>
        </p:spPr>
      </p:pic>
      <p:sp>
        <p:nvSpPr>
          <p:cNvPr id="215" name="Google Shape;215;p20"/>
          <p:cNvSpPr txBox="1"/>
          <p:nvPr/>
        </p:nvSpPr>
        <p:spPr>
          <a:xfrm>
            <a:off x="4199521" y="267409"/>
            <a:ext cx="346601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STAR SCHEMA</a:t>
            </a:r>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nvSpPr>
        <p:spPr>
          <a:xfrm>
            <a:off x="3014905" y="267409"/>
            <a:ext cx="583525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SSMS – IMPORTING FILES</a:t>
            </a:r>
            <a:endParaRPr/>
          </a:p>
        </p:txBody>
      </p:sp>
      <p:sp>
        <p:nvSpPr>
          <p:cNvPr id="221" name="Google Shape;221;p21"/>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22" name="Google Shape;222;p21"/>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223" name="Google Shape;223;p21"/>
          <p:cNvPicPr preferRelativeResize="0"/>
          <p:nvPr/>
        </p:nvPicPr>
        <p:blipFill rotWithShape="1">
          <a:blip r:embed="rId3">
            <a:alphaModFix/>
          </a:blip>
          <a:srcRect b="0" l="0" r="0" t="0"/>
          <a:stretch/>
        </p:blipFill>
        <p:spPr>
          <a:xfrm>
            <a:off x="956650" y="973077"/>
            <a:ext cx="3491339" cy="2742272"/>
          </a:xfrm>
          <a:prstGeom prst="rect">
            <a:avLst/>
          </a:prstGeom>
          <a:noFill/>
          <a:ln>
            <a:noFill/>
          </a:ln>
        </p:spPr>
      </p:pic>
      <p:pic>
        <p:nvPicPr>
          <p:cNvPr id="224" name="Google Shape;224;p21"/>
          <p:cNvPicPr preferRelativeResize="0"/>
          <p:nvPr/>
        </p:nvPicPr>
        <p:blipFill rotWithShape="1">
          <a:blip r:embed="rId4">
            <a:alphaModFix/>
          </a:blip>
          <a:srcRect b="0" l="0" r="0" t="0"/>
          <a:stretch/>
        </p:blipFill>
        <p:spPr>
          <a:xfrm>
            <a:off x="7363283" y="973077"/>
            <a:ext cx="3598919" cy="2822334"/>
          </a:xfrm>
          <a:prstGeom prst="rect">
            <a:avLst/>
          </a:prstGeom>
          <a:noFill/>
          <a:ln>
            <a:noFill/>
          </a:ln>
        </p:spPr>
      </p:pic>
      <p:pic>
        <p:nvPicPr>
          <p:cNvPr id="225" name="Google Shape;225;p21"/>
          <p:cNvPicPr preferRelativeResize="0"/>
          <p:nvPr/>
        </p:nvPicPr>
        <p:blipFill rotWithShape="1">
          <a:blip r:embed="rId5">
            <a:alphaModFix/>
          </a:blip>
          <a:srcRect b="0" l="0" r="0" t="0"/>
          <a:stretch/>
        </p:blipFill>
        <p:spPr>
          <a:xfrm>
            <a:off x="902861" y="3928921"/>
            <a:ext cx="3491339" cy="2718349"/>
          </a:xfrm>
          <a:prstGeom prst="rect">
            <a:avLst/>
          </a:prstGeom>
          <a:noFill/>
          <a:ln>
            <a:noFill/>
          </a:ln>
        </p:spPr>
      </p:pic>
      <p:pic>
        <p:nvPicPr>
          <p:cNvPr id="226" name="Google Shape;226;p21"/>
          <p:cNvPicPr preferRelativeResize="0"/>
          <p:nvPr/>
        </p:nvPicPr>
        <p:blipFill rotWithShape="1">
          <a:blip r:embed="rId6">
            <a:alphaModFix/>
          </a:blip>
          <a:srcRect b="0" l="0" r="0" t="0"/>
          <a:stretch/>
        </p:blipFill>
        <p:spPr>
          <a:xfrm>
            <a:off x="7363282" y="3928921"/>
            <a:ext cx="3598919" cy="28223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2"/>
          <p:cNvPicPr preferRelativeResize="0"/>
          <p:nvPr/>
        </p:nvPicPr>
        <p:blipFill rotWithShape="1">
          <a:blip r:embed="rId3">
            <a:alphaModFix/>
          </a:blip>
          <a:srcRect b="0" l="0" r="0" t="0"/>
          <a:stretch/>
        </p:blipFill>
        <p:spPr>
          <a:xfrm>
            <a:off x="544170" y="1276567"/>
            <a:ext cx="11103658" cy="4640075"/>
          </a:xfrm>
          <a:prstGeom prst="rect">
            <a:avLst/>
          </a:prstGeom>
          <a:noFill/>
          <a:ln>
            <a:noFill/>
          </a:ln>
        </p:spPr>
      </p:pic>
      <p:sp>
        <p:nvSpPr>
          <p:cNvPr id="232" name="Google Shape;232;p22"/>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33" name="Google Shape;233;p22"/>
          <p:cNvSpPr txBox="1"/>
          <p:nvPr/>
        </p:nvSpPr>
        <p:spPr>
          <a:xfrm>
            <a:off x="11727180" y="6279469"/>
            <a:ext cx="342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34" name="Google Shape;234;p22"/>
          <p:cNvSpPr txBox="1"/>
          <p:nvPr/>
        </p:nvSpPr>
        <p:spPr>
          <a:xfrm>
            <a:off x="3486574" y="267409"/>
            <a:ext cx="489191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PATIENT DIMENSION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23"/>
          <p:cNvPicPr preferRelativeResize="0"/>
          <p:nvPr/>
        </p:nvPicPr>
        <p:blipFill rotWithShape="1">
          <a:blip r:embed="rId3">
            <a:alphaModFix/>
          </a:blip>
          <a:srcRect b="0" l="0" r="0" t="0"/>
          <a:stretch/>
        </p:blipFill>
        <p:spPr>
          <a:xfrm>
            <a:off x="578733" y="1283109"/>
            <a:ext cx="10995951" cy="4626991"/>
          </a:xfrm>
          <a:prstGeom prst="rect">
            <a:avLst/>
          </a:prstGeom>
          <a:noFill/>
          <a:ln>
            <a:noFill/>
          </a:ln>
        </p:spPr>
      </p:pic>
      <p:sp>
        <p:nvSpPr>
          <p:cNvPr id="240" name="Google Shape;240;p23"/>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41" name="Google Shape;241;p23"/>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42" name="Google Shape;242;p23"/>
          <p:cNvSpPr txBox="1"/>
          <p:nvPr/>
        </p:nvSpPr>
        <p:spPr>
          <a:xfrm>
            <a:off x="3359549" y="267409"/>
            <a:ext cx="514596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HOSPITAL DIMENSION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4"/>
          <p:cNvPicPr preferRelativeResize="0"/>
          <p:nvPr/>
        </p:nvPicPr>
        <p:blipFill rotWithShape="1">
          <a:blip r:embed="rId3">
            <a:alphaModFix/>
          </a:blip>
          <a:srcRect b="0" l="0" r="0" t="0"/>
          <a:stretch/>
        </p:blipFill>
        <p:spPr>
          <a:xfrm>
            <a:off x="598024" y="1266891"/>
            <a:ext cx="10995949" cy="4659427"/>
          </a:xfrm>
          <a:prstGeom prst="rect">
            <a:avLst/>
          </a:prstGeom>
          <a:noFill/>
          <a:ln>
            <a:noFill/>
          </a:ln>
        </p:spPr>
      </p:pic>
      <p:sp>
        <p:nvSpPr>
          <p:cNvPr id="248" name="Google Shape;248;p24"/>
          <p:cNvSpPr txBox="1"/>
          <p:nvPr/>
        </p:nvSpPr>
        <p:spPr>
          <a:xfrm>
            <a:off x="1933681" y="267409"/>
            <a:ext cx="799770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INSURANCE PROVIDER DIMENSION</a:t>
            </a:r>
            <a:endParaRPr/>
          </a:p>
        </p:txBody>
      </p:sp>
      <p:sp>
        <p:nvSpPr>
          <p:cNvPr id="249" name="Google Shape;249;p24"/>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50" name="Google Shape;250;p24"/>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25"/>
          <p:cNvPicPr preferRelativeResize="0"/>
          <p:nvPr/>
        </p:nvPicPr>
        <p:blipFill rotWithShape="1">
          <a:blip r:embed="rId3">
            <a:alphaModFix/>
          </a:blip>
          <a:srcRect b="0" l="0" r="0" t="0"/>
          <a:stretch/>
        </p:blipFill>
        <p:spPr>
          <a:xfrm>
            <a:off x="526894" y="1278946"/>
            <a:ext cx="11138211" cy="4658433"/>
          </a:xfrm>
          <a:prstGeom prst="rect">
            <a:avLst/>
          </a:prstGeom>
          <a:noFill/>
          <a:ln>
            <a:noFill/>
          </a:ln>
        </p:spPr>
      </p:pic>
      <p:sp>
        <p:nvSpPr>
          <p:cNvPr id="256" name="Google Shape;256;p25"/>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57" name="Google Shape;257;p25"/>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58" name="Google Shape;258;p25"/>
          <p:cNvSpPr txBox="1"/>
          <p:nvPr/>
        </p:nvSpPr>
        <p:spPr>
          <a:xfrm>
            <a:off x="2315197" y="267409"/>
            <a:ext cx="723467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Hospital Encounter Fact Table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26"/>
          <p:cNvPicPr preferRelativeResize="0"/>
          <p:nvPr/>
        </p:nvPicPr>
        <p:blipFill rotWithShape="1">
          <a:blip r:embed="rId3">
            <a:alphaModFix/>
          </a:blip>
          <a:srcRect b="0" l="0" r="0" t="0"/>
          <a:stretch/>
        </p:blipFill>
        <p:spPr>
          <a:xfrm>
            <a:off x="2349307" y="1111120"/>
            <a:ext cx="7493385" cy="5067560"/>
          </a:xfrm>
          <a:prstGeom prst="rect">
            <a:avLst/>
          </a:prstGeom>
          <a:noFill/>
          <a:ln>
            <a:noFill/>
          </a:ln>
        </p:spPr>
      </p:pic>
      <p:sp>
        <p:nvSpPr>
          <p:cNvPr id="264" name="Google Shape;264;p26"/>
          <p:cNvSpPr txBox="1"/>
          <p:nvPr/>
        </p:nvSpPr>
        <p:spPr>
          <a:xfrm>
            <a:off x="4207546" y="267409"/>
            <a:ext cx="34499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FOREIGN KEYS</a:t>
            </a:r>
            <a:endParaRPr/>
          </a:p>
        </p:txBody>
      </p:sp>
      <p:sp>
        <p:nvSpPr>
          <p:cNvPr id="265" name="Google Shape;265;p26"/>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66" name="Google Shape;266;p26"/>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67" name="Google Shape;267;p26"/>
          <p:cNvSpPr/>
          <p:nvPr/>
        </p:nvSpPr>
        <p:spPr>
          <a:xfrm>
            <a:off x="3213100" y="2552700"/>
            <a:ext cx="1816100" cy="673100"/>
          </a:xfrm>
          <a:prstGeom prst="rect">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268" name="Google Shape;268;p26"/>
          <p:cNvSpPr/>
          <p:nvPr/>
        </p:nvSpPr>
        <p:spPr>
          <a:xfrm>
            <a:off x="3213100" y="4521200"/>
            <a:ext cx="1816100" cy="317500"/>
          </a:xfrm>
          <a:prstGeom prst="rect">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txBox="1"/>
          <p:nvPr/>
        </p:nvSpPr>
        <p:spPr>
          <a:xfrm>
            <a:off x="1546566" y="267409"/>
            <a:ext cx="877195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WAREHOUSE IMPLEMENTATION </a:t>
            </a:r>
            <a:endParaRPr sz="1800">
              <a:solidFill>
                <a:schemeClr val="dk2"/>
              </a:solidFill>
              <a:latin typeface="Open Sans Light"/>
              <a:ea typeface="Open Sans Light"/>
              <a:cs typeface="Open Sans Light"/>
              <a:sym typeface="Open Sans Light"/>
            </a:endParaRPr>
          </a:p>
        </p:txBody>
      </p:sp>
      <p:sp>
        <p:nvSpPr>
          <p:cNvPr id="274" name="Google Shape;274;p27"/>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275" name="Google Shape;275;p27"/>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descr="A screenshot of a computer&#10;&#10;Description automatically generated" id="276" name="Google Shape;276;p27"/>
          <p:cNvPicPr preferRelativeResize="0"/>
          <p:nvPr/>
        </p:nvPicPr>
        <p:blipFill rotWithShape="1">
          <a:blip r:embed="rId3">
            <a:alphaModFix/>
          </a:blip>
          <a:srcRect b="0" l="0" r="0" t="12991"/>
          <a:stretch/>
        </p:blipFill>
        <p:spPr>
          <a:xfrm>
            <a:off x="533400" y="1806500"/>
            <a:ext cx="5015501" cy="3580225"/>
          </a:xfrm>
          <a:prstGeom prst="rect">
            <a:avLst/>
          </a:prstGeom>
          <a:noFill/>
          <a:ln>
            <a:noFill/>
          </a:ln>
        </p:spPr>
      </p:pic>
      <p:pic>
        <p:nvPicPr>
          <p:cNvPr descr="A screenshot of a computer&#10;&#10;Description automatically generated" id="277" name="Google Shape;277;p27"/>
          <p:cNvPicPr preferRelativeResize="0"/>
          <p:nvPr/>
        </p:nvPicPr>
        <p:blipFill rotWithShape="1">
          <a:blip r:embed="rId4">
            <a:alphaModFix/>
          </a:blip>
          <a:srcRect b="23899" l="176" r="21696" t="-1324"/>
          <a:stretch/>
        </p:blipFill>
        <p:spPr>
          <a:xfrm>
            <a:off x="5675194" y="1720818"/>
            <a:ext cx="5800034" cy="32244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8"/>
          <p:cNvSpPr txBox="1"/>
          <p:nvPr/>
        </p:nvSpPr>
        <p:spPr>
          <a:xfrm>
            <a:off x="2840192" y="267409"/>
            <a:ext cx="618470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ETL CONTROL FLOW (SSIS)</a:t>
            </a:r>
            <a:endParaRPr sz="1800">
              <a:solidFill>
                <a:schemeClr val="dk2"/>
              </a:solidFill>
              <a:latin typeface="Open Sans Light"/>
              <a:ea typeface="Open Sans Light"/>
              <a:cs typeface="Open Sans Light"/>
              <a:sym typeface="Open Sans Light"/>
            </a:endParaRPr>
          </a:p>
        </p:txBody>
      </p:sp>
      <p:sp>
        <p:nvSpPr>
          <p:cNvPr id="283" name="Google Shape;283;p28"/>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
        <p:nvSpPr>
          <p:cNvPr id="284" name="Google Shape;284;p28"/>
          <p:cNvSpPr txBox="1"/>
          <p:nvPr/>
        </p:nvSpPr>
        <p:spPr>
          <a:xfrm>
            <a:off x="11727180" y="6279469"/>
            <a:ext cx="464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descr="A screenshot of a computer&#10;&#10;Description automatically generated" id="285" name="Google Shape;285;p28"/>
          <p:cNvPicPr preferRelativeResize="0"/>
          <p:nvPr/>
        </p:nvPicPr>
        <p:blipFill rotWithShape="1">
          <a:blip r:embed="rId3">
            <a:alphaModFix/>
          </a:blip>
          <a:srcRect b="44040" l="0" r="45336" t="7947"/>
          <a:stretch/>
        </p:blipFill>
        <p:spPr>
          <a:xfrm>
            <a:off x="2183643" y="2044321"/>
            <a:ext cx="7824716" cy="3841391"/>
          </a:xfrm>
          <a:prstGeom prst="rect">
            <a:avLst/>
          </a:prstGeom>
          <a:noFill/>
          <a:ln>
            <a:noFill/>
          </a:ln>
        </p:spPr>
      </p:pic>
      <p:sp>
        <p:nvSpPr>
          <p:cNvPr id="286" name="Google Shape;286;p28"/>
          <p:cNvSpPr txBox="1"/>
          <p:nvPr/>
        </p:nvSpPr>
        <p:spPr>
          <a:xfrm>
            <a:off x="2183653" y="1155776"/>
            <a:ext cx="7267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Poppins"/>
                <a:ea typeface="Poppins"/>
                <a:cs typeface="Poppins"/>
                <a:sym typeface="Poppins"/>
              </a:rPr>
              <a:t>Source:</a:t>
            </a:r>
            <a:r>
              <a:rPr lang="en-US" sz="1800">
                <a:solidFill>
                  <a:schemeClr val="dk1"/>
                </a:solidFill>
                <a:latin typeface="Poppins Light"/>
                <a:ea typeface="Poppins Light"/>
                <a:cs typeface="Poppins Light"/>
                <a:sym typeface="Poppins Light"/>
              </a:rPr>
              <a:t> Excel File</a:t>
            </a:r>
            <a:endParaRPr>
              <a:latin typeface="Poppins"/>
              <a:ea typeface="Poppins"/>
              <a:cs typeface="Poppins"/>
              <a:sym typeface="Poppins"/>
            </a:endParaRPr>
          </a:p>
          <a:p>
            <a:pPr indent="0" lvl="0" marL="0" marR="0" rtl="0" algn="l">
              <a:spcBef>
                <a:spcPts val="0"/>
              </a:spcBef>
              <a:spcAft>
                <a:spcPts val="0"/>
              </a:spcAft>
              <a:buNone/>
            </a:pPr>
            <a:r>
              <a:rPr b="1" lang="en-US" sz="1800">
                <a:solidFill>
                  <a:schemeClr val="dk1"/>
                </a:solidFill>
                <a:latin typeface="Poppins"/>
                <a:ea typeface="Poppins"/>
                <a:cs typeface="Poppins"/>
                <a:sym typeface="Poppins"/>
              </a:rPr>
              <a:t>Destination</a:t>
            </a:r>
            <a:r>
              <a:rPr lang="en-US" sz="1800">
                <a:solidFill>
                  <a:schemeClr val="dk1"/>
                </a:solidFill>
                <a:latin typeface="Poppins Light"/>
                <a:ea typeface="Poppins Light"/>
                <a:cs typeface="Poppins Light"/>
                <a:sym typeface="Poppins Light"/>
              </a:rPr>
              <a:t>: Data Warehouse (SQL Server)</a:t>
            </a:r>
            <a:endParaRPr>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nvSpPr>
        <p:spPr>
          <a:xfrm>
            <a:off x="2322844" y="1454172"/>
            <a:ext cx="7546311"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Exploratory Data Analysis</a:t>
            </a:r>
            <a:endParaRPr/>
          </a:p>
        </p:txBody>
      </p:sp>
      <p:sp>
        <p:nvSpPr>
          <p:cNvPr id="292" name="Google Shape;292;p29"/>
          <p:cNvSpPr txBox="1"/>
          <p:nvPr/>
        </p:nvSpPr>
        <p:spPr>
          <a:xfrm>
            <a:off x="3509188" y="2447242"/>
            <a:ext cx="4349268" cy="523220"/>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Clr>
                <a:schemeClr val="dk2"/>
              </a:buClr>
              <a:buSzPts val="2800"/>
              <a:buFont typeface="Arial"/>
              <a:buChar char="•"/>
            </a:pPr>
            <a:r>
              <a:rPr lang="en-US" sz="2800">
                <a:solidFill>
                  <a:schemeClr val="dk2"/>
                </a:solidFill>
                <a:latin typeface="Poppins"/>
                <a:ea typeface="Poppins"/>
                <a:cs typeface="Poppins"/>
                <a:sym typeface="Poppins"/>
              </a:rPr>
              <a:t>Descriptive Statistics</a:t>
            </a:r>
            <a:endParaRPr/>
          </a:p>
        </p:txBody>
      </p:sp>
      <p:sp>
        <p:nvSpPr>
          <p:cNvPr id="293" name="Google Shape;293;p29"/>
          <p:cNvSpPr txBox="1"/>
          <p:nvPr/>
        </p:nvSpPr>
        <p:spPr>
          <a:xfrm>
            <a:off x="3509188" y="3258364"/>
            <a:ext cx="4158511" cy="523220"/>
          </a:xfrm>
          <a:prstGeom prst="rect">
            <a:avLst/>
          </a:prstGeom>
          <a:noFill/>
          <a:ln>
            <a:noFill/>
          </a:ln>
        </p:spPr>
        <p:txBody>
          <a:bodyPr anchorCtr="0" anchor="t" bIns="45700" lIns="91425" spcFirstLastPara="1" rIns="91425" wrap="square" tIns="45700">
            <a:spAutoFit/>
          </a:bodyPr>
          <a:lstStyle/>
          <a:p>
            <a:pPr indent="-457200" lvl="0" marL="457200" marR="0" rtl="0" algn="ctr">
              <a:spcBef>
                <a:spcPts val="0"/>
              </a:spcBef>
              <a:spcAft>
                <a:spcPts val="0"/>
              </a:spcAft>
              <a:buClr>
                <a:schemeClr val="dk2"/>
              </a:buClr>
              <a:buSzPts val="2800"/>
              <a:buFont typeface="Arial"/>
              <a:buChar char="•"/>
            </a:pPr>
            <a:r>
              <a:rPr lang="en-US" sz="2800">
                <a:solidFill>
                  <a:schemeClr val="dk2"/>
                </a:solidFill>
                <a:latin typeface="Poppins"/>
                <a:ea typeface="Poppins"/>
                <a:cs typeface="Poppins"/>
                <a:sym typeface="Poppins"/>
              </a:rPr>
              <a:t>Data Preprocessing</a:t>
            </a:r>
            <a:endParaRPr sz="2800">
              <a:solidFill>
                <a:schemeClr val="dk2"/>
              </a:solidFill>
              <a:latin typeface="Poppins"/>
              <a:ea typeface="Poppins"/>
              <a:cs typeface="Poppins"/>
              <a:sym typeface="Poppins"/>
            </a:endParaRPr>
          </a:p>
        </p:txBody>
      </p:sp>
      <p:sp>
        <p:nvSpPr>
          <p:cNvPr id="294" name="Google Shape;294;p29"/>
          <p:cNvSpPr txBox="1"/>
          <p:nvPr/>
        </p:nvSpPr>
        <p:spPr>
          <a:xfrm>
            <a:off x="3634448" y="4069486"/>
            <a:ext cx="4371710" cy="52322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Poppins"/>
                <a:ea typeface="Poppins"/>
                <a:cs typeface="Poppins"/>
                <a:sym typeface="Poppins"/>
              </a:rPr>
              <a:t>Data Transformation</a:t>
            </a:r>
            <a:endParaRPr/>
          </a:p>
        </p:txBody>
      </p:sp>
      <p:cxnSp>
        <p:nvCxnSpPr>
          <p:cNvPr id="295" name="Google Shape;295;p29"/>
          <p:cNvCxnSpPr/>
          <p:nvPr/>
        </p:nvCxnSpPr>
        <p:spPr>
          <a:xfrm flipH="1" rot="10800000">
            <a:off x="2594788" y="2162058"/>
            <a:ext cx="7220936" cy="19676"/>
          </a:xfrm>
          <a:prstGeom prst="straightConnector1">
            <a:avLst/>
          </a:prstGeom>
          <a:noFill/>
          <a:ln cap="flat" cmpd="sng" w="9525">
            <a:solidFill>
              <a:schemeClr val="accent1"/>
            </a:solidFill>
            <a:prstDash val="solid"/>
            <a:miter lim="800000"/>
            <a:headEnd len="sm" w="sm" type="none"/>
            <a:tailEnd len="sm" w="sm" type="none"/>
          </a:ln>
        </p:spPr>
      </p:cxnSp>
      <p:sp>
        <p:nvSpPr>
          <p:cNvPr id="296" name="Google Shape;296;p29"/>
          <p:cNvSpPr txBox="1"/>
          <p:nvPr/>
        </p:nvSpPr>
        <p:spPr>
          <a:xfrm>
            <a:off x="3634448" y="4880608"/>
            <a:ext cx="6102350" cy="52322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Poppins"/>
                <a:ea typeface="Poppins"/>
                <a:cs typeface="Poppins"/>
                <a:sym typeface="Poppins"/>
              </a:rPr>
              <a:t>Visual Exploration</a:t>
            </a:r>
            <a:endParaRPr/>
          </a:p>
        </p:txBody>
      </p:sp>
      <p:pic>
        <p:nvPicPr>
          <p:cNvPr descr="A magnifying glass with graph and arrows&#10;&#10;Description automatically generated" id="297" name="Google Shape;297;p29"/>
          <p:cNvPicPr preferRelativeResize="0"/>
          <p:nvPr/>
        </p:nvPicPr>
        <p:blipFill rotWithShape="1">
          <a:blip r:embed="rId3">
            <a:alphaModFix/>
          </a:blip>
          <a:srcRect b="0" l="0" r="0" t="0"/>
          <a:stretch/>
        </p:blipFill>
        <p:spPr>
          <a:xfrm>
            <a:off x="9597212" y="1249487"/>
            <a:ext cx="1227260" cy="1117256"/>
          </a:xfrm>
          <a:prstGeom prst="rect">
            <a:avLst/>
          </a:prstGeom>
          <a:noFill/>
          <a:ln>
            <a:noFill/>
          </a:ln>
        </p:spPr>
      </p:pic>
      <p:sp>
        <p:nvSpPr>
          <p:cNvPr id="298" name="Google Shape;298;p29"/>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0"/>
          <p:cNvPicPr preferRelativeResize="0"/>
          <p:nvPr/>
        </p:nvPicPr>
        <p:blipFill rotWithShape="1">
          <a:blip r:embed="rId3">
            <a:alphaModFix/>
          </a:blip>
          <a:srcRect b="0" l="0" r="0" t="0"/>
          <a:stretch/>
        </p:blipFill>
        <p:spPr>
          <a:xfrm>
            <a:off x="653805" y="1480395"/>
            <a:ext cx="6403956" cy="3897209"/>
          </a:xfrm>
          <a:prstGeom prst="rect">
            <a:avLst/>
          </a:prstGeom>
          <a:noFill/>
          <a:ln cap="flat" cmpd="sng" w="9525">
            <a:solidFill>
              <a:schemeClr val="dk1"/>
            </a:solidFill>
            <a:prstDash val="solid"/>
            <a:round/>
            <a:headEnd len="sm" w="sm" type="none"/>
            <a:tailEnd len="sm" w="sm" type="none"/>
          </a:ln>
        </p:spPr>
      </p:pic>
      <p:pic>
        <p:nvPicPr>
          <p:cNvPr id="304" name="Google Shape;304;p30"/>
          <p:cNvPicPr preferRelativeResize="0"/>
          <p:nvPr/>
        </p:nvPicPr>
        <p:blipFill rotWithShape="1">
          <a:blip r:embed="rId4">
            <a:alphaModFix/>
          </a:blip>
          <a:srcRect b="0" l="0" r="0" t="0"/>
          <a:stretch/>
        </p:blipFill>
        <p:spPr>
          <a:xfrm>
            <a:off x="7259979" y="1960308"/>
            <a:ext cx="4278216" cy="1242518"/>
          </a:xfrm>
          <a:prstGeom prst="rect">
            <a:avLst/>
          </a:prstGeom>
          <a:noFill/>
          <a:ln cap="flat" cmpd="sng" w="9525">
            <a:solidFill>
              <a:schemeClr val="dk1"/>
            </a:solidFill>
            <a:prstDash val="solid"/>
            <a:round/>
            <a:headEnd len="sm" w="sm" type="none"/>
            <a:tailEnd len="sm" w="sm" type="none"/>
          </a:ln>
        </p:spPr>
      </p:pic>
      <p:pic>
        <p:nvPicPr>
          <p:cNvPr id="305" name="Google Shape;305;p30"/>
          <p:cNvPicPr preferRelativeResize="0"/>
          <p:nvPr/>
        </p:nvPicPr>
        <p:blipFill rotWithShape="1">
          <a:blip r:embed="rId5">
            <a:alphaModFix/>
          </a:blip>
          <a:srcRect b="0" l="0" r="0" t="0"/>
          <a:stretch/>
        </p:blipFill>
        <p:spPr>
          <a:xfrm>
            <a:off x="7259979" y="3741894"/>
            <a:ext cx="4278216" cy="1254515"/>
          </a:xfrm>
          <a:prstGeom prst="rect">
            <a:avLst/>
          </a:prstGeom>
          <a:noFill/>
          <a:ln cap="flat" cmpd="sng" w="9525">
            <a:solidFill>
              <a:schemeClr val="dk1"/>
            </a:solidFill>
            <a:prstDash val="solid"/>
            <a:round/>
            <a:headEnd len="sm" w="sm" type="none"/>
            <a:tailEnd len="sm" w="sm" type="none"/>
          </a:ln>
        </p:spPr>
      </p:pic>
      <p:sp>
        <p:nvSpPr>
          <p:cNvPr id="306" name="Google Shape;306;p30"/>
          <p:cNvSpPr txBox="1"/>
          <p:nvPr/>
        </p:nvSpPr>
        <p:spPr>
          <a:xfrm>
            <a:off x="3327491" y="267409"/>
            <a:ext cx="52100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Descriptive Statistics</a:t>
            </a:r>
            <a:endParaRPr b="1" sz="3600">
              <a:solidFill>
                <a:schemeClr val="dk2"/>
              </a:solidFill>
              <a:latin typeface="Poppins"/>
              <a:ea typeface="Poppins"/>
              <a:cs typeface="Poppins"/>
              <a:sym typeface="Poppins"/>
            </a:endParaRPr>
          </a:p>
        </p:txBody>
      </p:sp>
      <p:sp>
        <p:nvSpPr>
          <p:cNvPr id="307" name="Google Shape;307;p30"/>
          <p:cNvSpPr txBox="1"/>
          <p:nvPr/>
        </p:nvSpPr>
        <p:spPr>
          <a:xfrm>
            <a:off x="11727180" y="6279469"/>
            <a:ext cx="5564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08" name="Google Shape;308;p30"/>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1"/>
          <p:cNvPicPr preferRelativeResize="0"/>
          <p:nvPr/>
        </p:nvPicPr>
        <p:blipFill rotWithShape="1">
          <a:blip r:embed="rId3">
            <a:alphaModFix/>
          </a:blip>
          <a:srcRect b="0" l="0" r="0" t="0"/>
          <a:stretch/>
        </p:blipFill>
        <p:spPr>
          <a:xfrm>
            <a:off x="2037804" y="1356116"/>
            <a:ext cx="8116391" cy="4848663"/>
          </a:xfrm>
          <a:prstGeom prst="rect">
            <a:avLst/>
          </a:prstGeom>
          <a:noFill/>
          <a:ln cap="flat" cmpd="sng" w="9525">
            <a:solidFill>
              <a:srgbClr val="10414D"/>
            </a:solidFill>
            <a:prstDash val="solid"/>
            <a:round/>
            <a:headEnd len="sm" w="sm" type="none"/>
            <a:tailEnd len="sm" w="sm" type="none"/>
          </a:ln>
        </p:spPr>
      </p:pic>
      <p:sp>
        <p:nvSpPr>
          <p:cNvPr id="314" name="Google Shape;314;p31"/>
          <p:cNvSpPr txBox="1"/>
          <p:nvPr/>
        </p:nvSpPr>
        <p:spPr>
          <a:xfrm>
            <a:off x="3508631" y="267409"/>
            <a:ext cx="484780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Preprocessing</a:t>
            </a:r>
            <a:endParaRPr b="1" sz="3600">
              <a:solidFill>
                <a:schemeClr val="dk2"/>
              </a:solidFill>
              <a:latin typeface="Poppins"/>
              <a:ea typeface="Poppins"/>
              <a:cs typeface="Poppins"/>
              <a:sym typeface="Poppins"/>
            </a:endParaRPr>
          </a:p>
        </p:txBody>
      </p:sp>
      <p:sp>
        <p:nvSpPr>
          <p:cNvPr id="315" name="Google Shape;315;p31"/>
          <p:cNvSpPr txBox="1"/>
          <p:nvPr/>
        </p:nvSpPr>
        <p:spPr>
          <a:xfrm>
            <a:off x="1956569" y="993012"/>
            <a:ext cx="5669280" cy="37719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0414D"/>
              </a:buClr>
              <a:buSzPts val="1800"/>
              <a:buFont typeface="Arial"/>
              <a:buChar char="•"/>
            </a:pPr>
            <a:r>
              <a:rPr b="1" lang="en-US" sz="1800">
                <a:solidFill>
                  <a:srgbClr val="10414D"/>
                </a:solidFill>
                <a:latin typeface="Poppins"/>
                <a:ea typeface="Poppins"/>
                <a:cs typeface="Poppins"/>
                <a:sym typeface="Poppins"/>
              </a:rPr>
              <a:t>Outlier Detection</a:t>
            </a:r>
            <a:endParaRPr/>
          </a:p>
        </p:txBody>
      </p:sp>
      <p:sp>
        <p:nvSpPr>
          <p:cNvPr id="316" name="Google Shape;316;p31"/>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17" name="Google Shape;317;p31"/>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2"/>
          <p:cNvSpPr txBox="1"/>
          <p:nvPr/>
        </p:nvSpPr>
        <p:spPr>
          <a:xfrm>
            <a:off x="3345127" y="267409"/>
            <a:ext cx="517481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Transformation</a:t>
            </a:r>
            <a:endParaRPr b="1" sz="3600">
              <a:solidFill>
                <a:schemeClr val="dk2"/>
              </a:solidFill>
              <a:latin typeface="Poppins"/>
              <a:ea typeface="Poppins"/>
              <a:cs typeface="Poppins"/>
              <a:sym typeface="Poppins"/>
            </a:endParaRPr>
          </a:p>
        </p:txBody>
      </p:sp>
      <p:pic>
        <p:nvPicPr>
          <p:cNvPr id="323" name="Google Shape;323;p32"/>
          <p:cNvPicPr preferRelativeResize="0"/>
          <p:nvPr/>
        </p:nvPicPr>
        <p:blipFill rotWithShape="1">
          <a:blip r:embed="rId3">
            <a:alphaModFix/>
          </a:blip>
          <a:srcRect b="0" l="0" r="0" t="0"/>
          <a:stretch/>
        </p:blipFill>
        <p:spPr>
          <a:xfrm>
            <a:off x="2160675" y="1425622"/>
            <a:ext cx="7870648" cy="4791919"/>
          </a:xfrm>
          <a:prstGeom prst="rect">
            <a:avLst/>
          </a:prstGeom>
          <a:noFill/>
          <a:ln cap="flat" cmpd="sng" w="9525">
            <a:solidFill>
              <a:schemeClr val="dk1"/>
            </a:solidFill>
            <a:prstDash val="solid"/>
            <a:round/>
            <a:headEnd len="sm" w="sm" type="none"/>
            <a:tailEnd len="sm" w="sm" type="none"/>
          </a:ln>
        </p:spPr>
      </p:pic>
      <p:sp>
        <p:nvSpPr>
          <p:cNvPr id="324" name="Google Shape;324;p32"/>
          <p:cNvSpPr txBox="1"/>
          <p:nvPr/>
        </p:nvSpPr>
        <p:spPr>
          <a:xfrm>
            <a:off x="2080260" y="1048432"/>
            <a:ext cx="5669280" cy="37719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0414D"/>
              </a:buClr>
              <a:buSzPts val="1800"/>
              <a:buFont typeface="Arial"/>
              <a:buChar char="•"/>
            </a:pPr>
            <a:r>
              <a:rPr b="1" lang="en-US" sz="1800">
                <a:solidFill>
                  <a:srgbClr val="10414D"/>
                </a:solidFill>
                <a:latin typeface="Poppins"/>
                <a:ea typeface="Poppins"/>
                <a:cs typeface="Poppins"/>
                <a:sym typeface="Poppins"/>
              </a:rPr>
              <a:t>Derived Columns</a:t>
            </a:r>
            <a:endParaRPr/>
          </a:p>
        </p:txBody>
      </p:sp>
      <p:sp>
        <p:nvSpPr>
          <p:cNvPr id="325" name="Google Shape;325;p32"/>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26" name="Google Shape;326;p32"/>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33"/>
          <p:cNvPicPr preferRelativeResize="0"/>
          <p:nvPr/>
        </p:nvPicPr>
        <p:blipFill rotWithShape="1">
          <a:blip r:embed="rId3">
            <a:alphaModFix/>
          </a:blip>
          <a:srcRect b="0" l="0" r="0" t="0"/>
          <a:stretch/>
        </p:blipFill>
        <p:spPr>
          <a:xfrm>
            <a:off x="2180708" y="1425622"/>
            <a:ext cx="7830581" cy="4719155"/>
          </a:xfrm>
          <a:prstGeom prst="rect">
            <a:avLst/>
          </a:prstGeom>
          <a:noFill/>
          <a:ln cap="flat" cmpd="sng" w="9525">
            <a:solidFill>
              <a:srgbClr val="10414D"/>
            </a:solidFill>
            <a:prstDash val="solid"/>
            <a:round/>
            <a:headEnd len="sm" w="sm" type="none"/>
            <a:tailEnd len="sm" w="sm" type="none"/>
          </a:ln>
        </p:spPr>
      </p:pic>
      <p:sp>
        <p:nvSpPr>
          <p:cNvPr id="332" name="Google Shape;332;p33"/>
          <p:cNvSpPr txBox="1"/>
          <p:nvPr/>
        </p:nvSpPr>
        <p:spPr>
          <a:xfrm>
            <a:off x="2080260" y="1048432"/>
            <a:ext cx="5669280" cy="37719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0414D"/>
              </a:buClr>
              <a:buSzPts val="1800"/>
              <a:buFont typeface="Arial"/>
              <a:buChar char="•"/>
            </a:pPr>
            <a:r>
              <a:rPr b="1" lang="en-US" sz="1800">
                <a:solidFill>
                  <a:srgbClr val="10414D"/>
                </a:solidFill>
                <a:latin typeface="Poppins"/>
                <a:ea typeface="Poppins"/>
                <a:cs typeface="Poppins"/>
                <a:sym typeface="Poppins"/>
              </a:rPr>
              <a:t>Normalization of Length of Stay </a:t>
            </a:r>
            <a:endParaRPr/>
          </a:p>
        </p:txBody>
      </p:sp>
      <p:sp>
        <p:nvSpPr>
          <p:cNvPr id="333" name="Google Shape;333;p33"/>
          <p:cNvSpPr txBox="1"/>
          <p:nvPr/>
        </p:nvSpPr>
        <p:spPr>
          <a:xfrm>
            <a:off x="827527" y="2129742"/>
            <a:ext cx="38312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34" name="Google Shape;334;p33"/>
          <p:cNvSpPr txBox="1"/>
          <p:nvPr/>
        </p:nvSpPr>
        <p:spPr>
          <a:xfrm>
            <a:off x="3345127" y="267409"/>
            <a:ext cx="517481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Transformation</a:t>
            </a:r>
            <a:endParaRPr b="1" sz="3600">
              <a:solidFill>
                <a:schemeClr val="dk2"/>
              </a:solidFill>
              <a:latin typeface="Poppins"/>
              <a:ea typeface="Poppins"/>
              <a:cs typeface="Poppins"/>
              <a:sym typeface="Poppins"/>
            </a:endParaRPr>
          </a:p>
        </p:txBody>
      </p:sp>
      <p:sp>
        <p:nvSpPr>
          <p:cNvPr id="335" name="Google Shape;335;p33"/>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36" name="Google Shape;336;p33"/>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34"/>
          <p:cNvPicPr preferRelativeResize="0"/>
          <p:nvPr/>
        </p:nvPicPr>
        <p:blipFill rotWithShape="1">
          <a:blip r:embed="rId3">
            <a:alphaModFix/>
          </a:blip>
          <a:srcRect b="2374" l="0" r="0" t="3151"/>
          <a:stretch/>
        </p:blipFill>
        <p:spPr>
          <a:xfrm>
            <a:off x="2080260" y="1425622"/>
            <a:ext cx="8043282" cy="4595149"/>
          </a:xfrm>
          <a:prstGeom prst="rect">
            <a:avLst/>
          </a:prstGeom>
          <a:noFill/>
          <a:ln cap="flat" cmpd="sng" w="9525">
            <a:solidFill>
              <a:srgbClr val="10414D"/>
            </a:solidFill>
            <a:prstDash val="solid"/>
            <a:round/>
            <a:headEnd len="sm" w="sm" type="none"/>
            <a:tailEnd len="sm" w="sm" type="none"/>
          </a:ln>
        </p:spPr>
      </p:pic>
      <p:sp>
        <p:nvSpPr>
          <p:cNvPr id="342" name="Google Shape;342;p34"/>
          <p:cNvSpPr txBox="1"/>
          <p:nvPr/>
        </p:nvSpPr>
        <p:spPr>
          <a:xfrm>
            <a:off x="3345127" y="267409"/>
            <a:ext cx="517481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Transformation</a:t>
            </a:r>
            <a:endParaRPr b="1" sz="3600">
              <a:solidFill>
                <a:schemeClr val="dk2"/>
              </a:solidFill>
              <a:latin typeface="Poppins"/>
              <a:ea typeface="Poppins"/>
              <a:cs typeface="Poppins"/>
              <a:sym typeface="Poppins"/>
            </a:endParaRPr>
          </a:p>
        </p:txBody>
      </p:sp>
      <p:sp>
        <p:nvSpPr>
          <p:cNvPr id="343" name="Google Shape;343;p34"/>
          <p:cNvSpPr txBox="1"/>
          <p:nvPr/>
        </p:nvSpPr>
        <p:spPr>
          <a:xfrm>
            <a:off x="2080260" y="1048432"/>
            <a:ext cx="5669280" cy="37719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0414D"/>
              </a:buClr>
              <a:buSzPts val="1800"/>
              <a:buFont typeface="Arial"/>
              <a:buChar char="•"/>
            </a:pPr>
            <a:r>
              <a:rPr b="1" lang="en-US" sz="1800">
                <a:solidFill>
                  <a:srgbClr val="10414D"/>
                </a:solidFill>
                <a:latin typeface="Poppins"/>
                <a:ea typeface="Poppins"/>
                <a:cs typeface="Poppins"/>
                <a:sym typeface="Poppins"/>
              </a:rPr>
              <a:t>One-hot Encoding for Admission Type</a:t>
            </a:r>
            <a:endParaRPr/>
          </a:p>
        </p:txBody>
      </p:sp>
      <p:sp>
        <p:nvSpPr>
          <p:cNvPr id="344" name="Google Shape;344;p34"/>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45" name="Google Shape;345;p34"/>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35"/>
          <p:cNvPicPr preferRelativeResize="0"/>
          <p:nvPr/>
        </p:nvPicPr>
        <p:blipFill rotWithShape="1">
          <a:blip r:embed="rId3">
            <a:alphaModFix/>
          </a:blip>
          <a:srcRect b="0" l="0" r="0" t="0"/>
          <a:stretch/>
        </p:blipFill>
        <p:spPr>
          <a:xfrm>
            <a:off x="4670319" y="1804668"/>
            <a:ext cx="6766609" cy="3338832"/>
          </a:xfrm>
          <a:prstGeom prst="rect">
            <a:avLst/>
          </a:prstGeom>
          <a:noFill/>
          <a:ln cap="flat" cmpd="sng" w="9525">
            <a:solidFill>
              <a:srgbClr val="10414D"/>
            </a:solidFill>
            <a:prstDash val="solid"/>
            <a:round/>
            <a:headEnd len="sm" w="sm" type="none"/>
            <a:tailEnd len="sm" w="sm" type="none"/>
          </a:ln>
        </p:spPr>
      </p:pic>
      <p:pic>
        <p:nvPicPr>
          <p:cNvPr id="351" name="Google Shape;351;p35"/>
          <p:cNvPicPr preferRelativeResize="0"/>
          <p:nvPr/>
        </p:nvPicPr>
        <p:blipFill rotWithShape="1">
          <a:blip r:embed="rId4">
            <a:alphaModFix/>
          </a:blip>
          <a:srcRect b="0" l="0" r="0" t="0"/>
          <a:stretch/>
        </p:blipFill>
        <p:spPr>
          <a:xfrm>
            <a:off x="755072" y="2449745"/>
            <a:ext cx="3741744" cy="1958510"/>
          </a:xfrm>
          <a:prstGeom prst="rect">
            <a:avLst/>
          </a:prstGeom>
          <a:noFill/>
          <a:ln cap="flat" cmpd="sng" w="9525">
            <a:solidFill>
              <a:srgbClr val="10414D"/>
            </a:solidFill>
            <a:prstDash val="solid"/>
            <a:round/>
            <a:headEnd len="sm" w="sm" type="none"/>
            <a:tailEnd len="sm" w="sm" type="none"/>
          </a:ln>
        </p:spPr>
      </p:pic>
      <p:sp>
        <p:nvSpPr>
          <p:cNvPr id="352" name="Google Shape;352;p35"/>
          <p:cNvSpPr txBox="1"/>
          <p:nvPr/>
        </p:nvSpPr>
        <p:spPr>
          <a:xfrm>
            <a:off x="3692976" y="267409"/>
            <a:ext cx="447911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Visual Exploration</a:t>
            </a:r>
            <a:endParaRPr/>
          </a:p>
        </p:txBody>
      </p:sp>
      <p:sp>
        <p:nvSpPr>
          <p:cNvPr id="353" name="Google Shape;353;p35"/>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54" name="Google Shape;354;p35"/>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36"/>
          <p:cNvPicPr preferRelativeResize="0"/>
          <p:nvPr/>
        </p:nvPicPr>
        <p:blipFill rotWithShape="1">
          <a:blip r:embed="rId3">
            <a:alphaModFix/>
          </a:blip>
          <a:srcRect b="0" l="0" r="0" t="0"/>
          <a:stretch/>
        </p:blipFill>
        <p:spPr>
          <a:xfrm>
            <a:off x="700112" y="2737707"/>
            <a:ext cx="3543607" cy="1729890"/>
          </a:xfrm>
          <a:prstGeom prst="rect">
            <a:avLst/>
          </a:prstGeom>
          <a:noFill/>
          <a:ln cap="flat" cmpd="sng" w="9525">
            <a:solidFill>
              <a:srgbClr val="10414D"/>
            </a:solidFill>
            <a:prstDash val="solid"/>
            <a:round/>
            <a:headEnd len="sm" w="sm" type="none"/>
            <a:tailEnd len="sm" w="sm" type="none"/>
          </a:ln>
        </p:spPr>
      </p:pic>
      <p:pic>
        <p:nvPicPr>
          <p:cNvPr id="360" name="Google Shape;360;p36"/>
          <p:cNvPicPr preferRelativeResize="0"/>
          <p:nvPr/>
        </p:nvPicPr>
        <p:blipFill rotWithShape="1">
          <a:blip r:embed="rId4">
            <a:alphaModFix/>
          </a:blip>
          <a:srcRect b="0" l="0" r="0" t="0"/>
          <a:stretch/>
        </p:blipFill>
        <p:spPr>
          <a:xfrm>
            <a:off x="4570017" y="1689349"/>
            <a:ext cx="6921871" cy="3826606"/>
          </a:xfrm>
          <a:prstGeom prst="rect">
            <a:avLst/>
          </a:prstGeom>
          <a:noFill/>
          <a:ln cap="flat" cmpd="sng" w="9525">
            <a:solidFill>
              <a:srgbClr val="10414D"/>
            </a:solidFill>
            <a:prstDash val="solid"/>
            <a:round/>
            <a:headEnd len="sm" w="sm" type="none"/>
            <a:tailEnd len="sm" w="sm" type="none"/>
          </a:ln>
        </p:spPr>
      </p:pic>
      <p:sp>
        <p:nvSpPr>
          <p:cNvPr id="361" name="Google Shape;361;p36"/>
          <p:cNvSpPr txBox="1"/>
          <p:nvPr/>
        </p:nvSpPr>
        <p:spPr>
          <a:xfrm>
            <a:off x="3692976" y="267409"/>
            <a:ext cx="447911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Visual Exploration</a:t>
            </a:r>
            <a:endParaRPr/>
          </a:p>
        </p:txBody>
      </p:sp>
      <p:sp>
        <p:nvSpPr>
          <p:cNvPr id="362" name="Google Shape;362;p36"/>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63" name="Google Shape;363;p36"/>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37"/>
          <p:cNvPicPr preferRelativeResize="0"/>
          <p:nvPr/>
        </p:nvPicPr>
        <p:blipFill rotWithShape="1">
          <a:blip r:embed="rId3">
            <a:alphaModFix/>
          </a:blip>
          <a:srcRect b="0" l="0" r="4208" t="0"/>
          <a:stretch/>
        </p:blipFill>
        <p:spPr>
          <a:xfrm>
            <a:off x="5091705" y="1531620"/>
            <a:ext cx="6440642" cy="4513251"/>
          </a:xfrm>
          <a:prstGeom prst="rect">
            <a:avLst/>
          </a:prstGeom>
          <a:noFill/>
          <a:ln cap="flat" cmpd="sng" w="9525">
            <a:solidFill>
              <a:srgbClr val="10414D"/>
            </a:solidFill>
            <a:prstDash val="solid"/>
            <a:round/>
            <a:headEnd len="sm" w="sm" type="none"/>
            <a:tailEnd len="sm" w="sm" type="none"/>
          </a:ln>
        </p:spPr>
      </p:pic>
      <p:pic>
        <p:nvPicPr>
          <p:cNvPr id="369" name="Google Shape;369;p37"/>
          <p:cNvPicPr preferRelativeResize="0"/>
          <p:nvPr/>
        </p:nvPicPr>
        <p:blipFill rotWithShape="1">
          <a:blip r:embed="rId4">
            <a:alphaModFix/>
          </a:blip>
          <a:srcRect b="0" l="0" r="0" t="0"/>
          <a:stretch/>
        </p:blipFill>
        <p:spPr>
          <a:xfrm>
            <a:off x="659653" y="2618740"/>
            <a:ext cx="4316703" cy="2312776"/>
          </a:xfrm>
          <a:prstGeom prst="rect">
            <a:avLst/>
          </a:prstGeom>
          <a:noFill/>
          <a:ln cap="flat" cmpd="sng" w="9525">
            <a:solidFill>
              <a:srgbClr val="10414D"/>
            </a:solidFill>
            <a:prstDash val="solid"/>
            <a:round/>
            <a:headEnd len="sm" w="sm" type="none"/>
            <a:tailEnd len="sm" w="sm" type="none"/>
          </a:ln>
        </p:spPr>
      </p:pic>
      <p:sp>
        <p:nvSpPr>
          <p:cNvPr id="370" name="Google Shape;370;p37"/>
          <p:cNvSpPr txBox="1"/>
          <p:nvPr/>
        </p:nvSpPr>
        <p:spPr>
          <a:xfrm>
            <a:off x="3692976" y="267409"/>
            <a:ext cx="447911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Visual Exploration</a:t>
            </a:r>
            <a:endParaRPr/>
          </a:p>
        </p:txBody>
      </p:sp>
      <p:sp>
        <p:nvSpPr>
          <p:cNvPr id="371" name="Google Shape;371;p37"/>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72" name="Google Shape;372;p37"/>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8"/>
          <p:cNvSpPr txBox="1"/>
          <p:nvPr/>
        </p:nvSpPr>
        <p:spPr>
          <a:xfrm>
            <a:off x="1817916" y="2866713"/>
            <a:ext cx="7081344"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DATA ANALYSIS AND VISUALIZATIONS</a:t>
            </a:r>
            <a:endParaRPr b="1" sz="4000">
              <a:solidFill>
                <a:schemeClr val="dk2"/>
              </a:solidFill>
              <a:latin typeface="Poppins"/>
              <a:ea typeface="Poppins"/>
              <a:cs typeface="Poppins"/>
              <a:sym typeface="Poppins"/>
            </a:endParaRPr>
          </a:p>
        </p:txBody>
      </p:sp>
      <p:pic>
        <p:nvPicPr>
          <p:cNvPr descr="A black and white line drawing of a graph on a computer monitor&#10;&#10;Description automatically generated" id="378" name="Google Shape;378;p38"/>
          <p:cNvPicPr preferRelativeResize="0"/>
          <p:nvPr/>
        </p:nvPicPr>
        <p:blipFill rotWithShape="1">
          <a:blip r:embed="rId3">
            <a:alphaModFix/>
          </a:blip>
          <a:srcRect b="0" l="0" r="0" t="0"/>
          <a:stretch/>
        </p:blipFill>
        <p:spPr>
          <a:xfrm>
            <a:off x="7818212" y="2495413"/>
            <a:ext cx="2425383" cy="1973341"/>
          </a:xfrm>
          <a:prstGeom prst="rect">
            <a:avLst/>
          </a:prstGeom>
          <a:noFill/>
          <a:ln>
            <a:noFill/>
          </a:ln>
        </p:spPr>
      </p:pic>
      <p:sp>
        <p:nvSpPr>
          <p:cNvPr id="379" name="Google Shape;379;p38"/>
          <p:cNvSpPr txBox="1"/>
          <p:nvPr/>
        </p:nvSpPr>
        <p:spPr>
          <a:xfrm>
            <a:off x="4658747" y="6417500"/>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9"/>
          <p:cNvSpPr txBox="1"/>
          <p:nvPr/>
        </p:nvSpPr>
        <p:spPr>
          <a:xfrm>
            <a:off x="2231836" y="267409"/>
            <a:ext cx="74013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Analysis &amp; Visualizations</a:t>
            </a:r>
            <a:endParaRPr/>
          </a:p>
        </p:txBody>
      </p:sp>
      <p:sp>
        <p:nvSpPr>
          <p:cNvPr id="386" name="Google Shape;386;p39"/>
          <p:cNvSpPr txBox="1"/>
          <p:nvPr/>
        </p:nvSpPr>
        <p:spPr>
          <a:xfrm>
            <a:off x="4658747" y="6417500"/>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387" name="Google Shape;387;p39"/>
          <p:cNvSpPr/>
          <p:nvPr/>
        </p:nvSpPr>
        <p:spPr>
          <a:xfrm>
            <a:off x="686976" y="1641002"/>
            <a:ext cx="2672888" cy="3428709"/>
          </a:xfrm>
          <a:prstGeom prst="roundRect">
            <a:avLst>
              <a:gd fmla="val 16667" name="adj"/>
            </a:avLst>
          </a:prstGeom>
          <a:solidFill>
            <a:srgbClr val="DAD1D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388" name="Google Shape;388;p39"/>
          <p:cNvSpPr txBox="1"/>
          <p:nvPr/>
        </p:nvSpPr>
        <p:spPr>
          <a:xfrm>
            <a:off x="779140" y="2849784"/>
            <a:ext cx="2488557" cy="181588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Identification of top-performing doctors by analyzing recovery ratios</a:t>
            </a:r>
            <a:endParaRPr/>
          </a:p>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Analytical view into Cost of treatment per doctor</a:t>
            </a:r>
            <a:endParaRPr/>
          </a:p>
        </p:txBody>
      </p:sp>
      <p:pic>
        <p:nvPicPr>
          <p:cNvPr id="389" name="Google Shape;389;p39"/>
          <p:cNvPicPr preferRelativeResize="0"/>
          <p:nvPr/>
        </p:nvPicPr>
        <p:blipFill rotWithShape="1">
          <a:blip r:embed="rId3">
            <a:alphaModFix/>
          </a:blip>
          <a:srcRect b="0" l="0" r="0" t="0"/>
          <a:stretch/>
        </p:blipFill>
        <p:spPr>
          <a:xfrm>
            <a:off x="1653029" y="1904448"/>
            <a:ext cx="740780" cy="740780"/>
          </a:xfrm>
          <a:prstGeom prst="rect">
            <a:avLst/>
          </a:prstGeom>
          <a:noFill/>
          <a:ln>
            <a:noFill/>
          </a:ln>
        </p:spPr>
      </p:pic>
      <p:sp>
        <p:nvSpPr>
          <p:cNvPr id="390" name="Google Shape;390;p39"/>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391" name="Google Shape;391;p39"/>
          <p:cNvPicPr preferRelativeResize="0"/>
          <p:nvPr/>
        </p:nvPicPr>
        <p:blipFill rotWithShape="1">
          <a:blip r:embed="rId4">
            <a:alphaModFix/>
          </a:blip>
          <a:srcRect b="0" l="0" r="0" t="0"/>
          <a:stretch/>
        </p:blipFill>
        <p:spPr>
          <a:xfrm>
            <a:off x="3493339" y="903592"/>
            <a:ext cx="8139861" cy="538603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0"/>
          <p:cNvSpPr txBox="1"/>
          <p:nvPr/>
        </p:nvSpPr>
        <p:spPr>
          <a:xfrm>
            <a:off x="2231836" y="267409"/>
            <a:ext cx="74013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Analysis &amp; Visualizations</a:t>
            </a:r>
            <a:endParaRPr/>
          </a:p>
        </p:txBody>
      </p:sp>
      <p:pic>
        <p:nvPicPr>
          <p:cNvPr id="398" name="Google Shape;398;p40"/>
          <p:cNvPicPr preferRelativeResize="0"/>
          <p:nvPr/>
        </p:nvPicPr>
        <p:blipFill rotWithShape="1">
          <a:blip r:embed="rId3">
            <a:alphaModFix/>
          </a:blip>
          <a:srcRect b="0" l="0" r="0" t="0"/>
          <a:stretch/>
        </p:blipFill>
        <p:spPr>
          <a:xfrm>
            <a:off x="3483980" y="1261563"/>
            <a:ext cx="8160286" cy="4563016"/>
          </a:xfrm>
          <a:prstGeom prst="rect">
            <a:avLst/>
          </a:prstGeom>
          <a:noFill/>
          <a:ln>
            <a:noFill/>
          </a:ln>
        </p:spPr>
      </p:pic>
      <p:sp>
        <p:nvSpPr>
          <p:cNvPr id="399" name="Google Shape;399;p40"/>
          <p:cNvSpPr txBox="1"/>
          <p:nvPr/>
        </p:nvSpPr>
        <p:spPr>
          <a:xfrm>
            <a:off x="4658747" y="6405925"/>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00" name="Google Shape;400;p40"/>
          <p:cNvSpPr/>
          <p:nvPr/>
        </p:nvSpPr>
        <p:spPr>
          <a:xfrm>
            <a:off x="679911" y="1551009"/>
            <a:ext cx="2672888" cy="4263410"/>
          </a:xfrm>
          <a:prstGeom prst="roundRect">
            <a:avLst>
              <a:gd fmla="val 16667" name="adj"/>
            </a:avLst>
          </a:prstGeom>
          <a:solidFill>
            <a:srgbClr val="DAD1D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pic>
        <p:nvPicPr>
          <p:cNvPr id="401" name="Google Shape;401;p40"/>
          <p:cNvPicPr preferRelativeResize="0"/>
          <p:nvPr/>
        </p:nvPicPr>
        <p:blipFill rotWithShape="1">
          <a:blip r:embed="rId4">
            <a:alphaModFix/>
          </a:blip>
          <a:srcRect b="0" l="0" r="0" t="0"/>
          <a:stretch/>
        </p:blipFill>
        <p:spPr>
          <a:xfrm>
            <a:off x="1645965" y="1693559"/>
            <a:ext cx="740780" cy="740780"/>
          </a:xfrm>
          <a:prstGeom prst="rect">
            <a:avLst/>
          </a:prstGeom>
          <a:noFill/>
          <a:ln>
            <a:noFill/>
          </a:ln>
        </p:spPr>
      </p:pic>
      <p:sp>
        <p:nvSpPr>
          <p:cNvPr id="402" name="Google Shape;402;p40"/>
          <p:cNvSpPr txBox="1"/>
          <p:nvPr/>
        </p:nvSpPr>
        <p:spPr>
          <a:xfrm>
            <a:off x="679911" y="2596743"/>
            <a:ext cx="2488557" cy="267765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Displaying patient load per city</a:t>
            </a:r>
            <a:endParaRPr/>
          </a:p>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Visual breakdown of patient distribution by medical condition</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Identifying the maximum age range for patients per city and medical condition</a:t>
            </a:r>
            <a:endParaRPr sz="1400">
              <a:solidFill>
                <a:schemeClr val="dk1"/>
              </a:solidFill>
              <a:latin typeface="Poppins"/>
              <a:ea typeface="Poppins"/>
              <a:cs typeface="Poppins"/>
              <a:sym typeface="Poppins"/>
            </a:endParaRPr>
          </a:p>
        </p:txBody>
      </p:sp>
      <p:sp>
        <p:nvSpPr>
          <p:cNvPr id="403" name="Google Shape;403;p40"/>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1"/>
          <p:cNvSpPr txBox="1"/>
          <p:nvPr/>
        </p:nvSpPr>
        <p:spPr>
          <a:xfrm>
            <a:off x="2231836" y="267409"/>
            <a:ext cx="74013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Analysis &amp; Visualizations</a:t>
            </a:r>
            <a:endParaRPr/>
          </a:p>
        </p:txBody>
      </p:sp>
      <p:sp>
        <p:nvSpPr>
          <p:cNvPr id="410" name="Google Shape;410;p41"/>
          <p:cNvSpPr txBox="1"/>
          <p:nvPr/>
        </p:nvSpPr>
        <p:spPr>
          <a:xfrm>
            <a:off x="4658747" y="6405925"/>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11" name="Google Shape;411;p41"/>
          <p:cNvSpPr/>
          <p:nvPr/>
        </p:nvSpPr>
        <p:spPr>
          <a:xfrm>
            <a:off x="659957" y="2099249"/>
            <a:ext cx="2334362" cy="3240911"/>
          </a:xfrm>
          <a:prstGeom prst="roundRect">
            <a:avLst>
              <a:gd fmla="val 16667" name="adj"/>
            </a:avLst>
          </a:prstGeom>
          <a:solidFill>
            <a:srgbClr val="DAD1D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12" name="Google Shape;412;p41"/>
          <p:cNvSpPr txBox="1"/>
          <p:nvPr/>
        </p:nvSpPr>
        <p:spPr>
          <a:xfrm>
            <a:off x="713805" y="3177810"/>
            <a:ext cx="2334362" cy="160043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Aggregating critical data points providing a comprehensive profile of patient demographics and medical history.</a:t>
            </a:r>
            <a:endParaRPr sz="1400">
              <a:solidFill>
                <a:schemeClr val="dk1"/>
              </a:solidFill>
              <a:latin typeface="Poppins"/>
              <a:ea typeface="Poppins"/>
              <a:cs typeface="Poppins"/>
              <a:sym typeface="Poppins"/>
            </a:endParaRPr>
          </a:p>
        </p:txBody>
      </p:sp>
      <p:pic>
        <p:nvPicPr>
          <p:cNvPr id="413" name="Google Shape;413;p41"/>
          <p:cNvPicPr preferRelativeResize="0"/>
          <p:nvPr/>
        </p:nvPicPr>
        <p:blipFill rotWithShape="1">
          <a:blip r:embed="rId3">
            <a:alphaModFix/>
          </a:blip>
          <a:srcRect b="0" l="0" r="0" t="0"/>
          <a:stretch/>
        </p:blipFill>
        <p:spPr>
          <a:xfrm>
            <a:off x="1456748" y="2268140"/>
            <a:ext cx="740780" cy="740780"/>
          </a:xfrm>
          <a:prstGeom prst="rect">
            <a:avLst/>
          </a:prstGeom>
          <a:noFill/>
          <a:ln>
            <a:noFill/>
          </a:ln>
        </p:spPr>
      </p:pic>
      <p:sp>
        <p:nvSpPr>
          <p:cNvPr id="414" name="Google Shape;414;p41"/>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415" name="Google Shape;415;p41"/>
          <p:cNvPicPr preferRelativeResize="0"/>
          <p:nvPr/>
        </p:nvPicPr>
        <p:blipFill rotWithShape="1">
          <a:blip r:embed="rId4">
            <a:alphaModFix/>
          </a:blip>
          <a:srcRect b="0" l="0" r="0" t="0"/>
          <a:stretch/>
        </p:blipFill>
        <p:spPr>
          <a:xfrm>
            <a:off x="3169178" y="1125248"/>
            <a:ext cx="8362865" cy="481625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2"/>
          <p:cNvSpPr/>
          <p:nvPr/>
        </p:nvSpPr>
        <p:spPr>
          <a:xfrm>
            <a:off x="819723" y="1759352"/>
            <a:ext cx="2411459" cy="3565002"/>
          </a:xfrm>
          <a:prstGeom prst="roundRect">
            <a:avLst>
              <a:gd fmla="val 16667" name="adj"/>
            </a:avLst>
          </a:prstGeom>
          <a:solidFill>
            <a:srgbClr val="DAD1D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22" name="Google Shape;422;p42"/>
          <p:cNvSpPr txBox="1"/>
          <p:nvPr/>
        </p:nvSpPr>
        <p:spPr>
          <a:xfrm>
            <a:off x="2231836" y="267409"/>
            <a:ext cx="74013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Analysis &amp; Visualizations</a:t>
            </a:r>
            <a:endParaRPr/>
          </a:p>
        </p:txBody>
      </p:sp>
      <p:sp>
        <p:nvSpPr>
          <p:cNvPr id="423" name="Google Shape;423;p42"/>
          <p:cNvSpPr txBox="1"/>
          <p:nvPr/>
        </p:nvSpPr>
        <p:spPr>
          <a:xfrm>
            <a:off x="864476" y="2952703"/>
            <a:ext cx="2411459"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Relationship between billing amounts and patient volumes over time</a:t>
            </a:r>
            <a:endParaRPr/>
          </a:p>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Highlights potential periods of high and low hospital utilization</a:t>
            </a:r>
            <a:endParaRPr sz="1400">
              <a:solidFill>
                <a:schemeClr val="dk1"/>
              </a:solidFill>
              <a:latin typeface="Poppins"/>
              <a:ea typeface="Poppins"/>
              <a:cs typeface="Poppins"/>
              <a:sym typeface="Poppins"/>
            </a:endParaRPr>
          </a:p>
        </p:txBody>
      </p:sp>
      <p:sp>
        <p:nvSpPr>
          <p:cNvPr id="424" name="Google Shape;424;p42"/>
          <p:cNvSpPr txBox="1"/>
          <p:nvPr/>
        </p:nvSpPr>
        <p:spPr>
          <a:xfrm>
            <a:off x="4658747" y="6405925"/>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425" name="Google Shape;425;p42"/>
          <p:cNvPicPr preferRelativeResize="0"/>
          <p:nvPr/>
        </p:nvPicPr>
        <p:blipFill rotWithShape="1">
          <a:blip r:embed="rId3">
            <a:alphaModFix/>
          </a:blip>
          <a:srcRect b="0" l="0" r="0" t="0"/>
          <a:stretch/>
        </p:blipFill>
        <p:spPr>
          <a:xfrm>
            <a:off x="1655062" y="2053235"/>
            <a:ext cx="740780" cy="740780"/>
          </a:xfrm>
          <a:prstGeom prst="rect">
            <a:avLst/>
          </a:prstGeom>
          <a:noFill/>
          <a:ln>
            <a:noFill/>
          </a:ln>
        </p:spPr>
      </p:pic>
      <p:sp>
        <p:nvSpPr>
          <p:cNvPr id="426" name="Google Shape;426;p42"/>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427" name="Google Shape;427;p42"/>
          <p:cNvPicPr preferRelativeResize="0"/>
          <p:nvPr/>
        </p:nvPicPr>
        <p:blipFill rotWithShape="1">
          <a:blip r:embed="rId4">
            <a:alphaModFix/>
          </a:blip>
          <a:srcRect b="0" l="0" r="0" t="0"/>
          <a:stretch/>
        </p:blipFill>
        <p:spPr>
          <a:xfrm>
            <a:off x="3765243" y="878292"/>
            <a:ext cx="7238037" cy="54011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43"/>
          <p:cNvPicPr preferRelativeResize="0"/>
          <p:nvPr/>
        </p:nvPicPr>
        <p:blipFill rotWithShape="1">
          <a:blip r:embed="rId3">
            <a:alphaModFix/>
          </a:blip>
          <a:srcRect b="0" l="0" r="0" t="0"/>
          <a:stretch/>
        </p:blipFill>
        <p:spPr>
          <a:xfrm>
            <a:off x="3183038" y="1413337"/>
            <a:ext cx="8495858" cy="4492990"/>
          </a:xfrm>
          <a:prstGeom prst="rect">
            <a:avLst/>
          </a:prstGeom>
          <a:noFill/>
          <a:ln cap="flat" cmpd="sng" w="9525">
            <a:solidFill>
              <a:srgbClr val="10414D"/>
            </a:solidFill>
            <a:prstDash val="solid"/>
            <a:round/>
            <a:headEnd len="sm" w="sm" type="none"/>
            <a:tailEnd len="sm" w="sm" type="none"/>
          </a:ln>
        </p:spPr>
      </p:pic>
      <p:sp>
        <p:nvSpPr>
          <p:cNvPr id="434" name="Google Shape;434;p43"/>
          <p:cNvSpPr txBox="1"/>
          <p:nvPr/>
        </p:nvSpPr>
        <p:spPr>
          <a:xfrm>
            <a:off x="2231836" y="267409"/>
            <a:ext cx="740138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Data Analysis &amp; Visualizations</a:t>
            </a:r>
            <a:endParaRPr/>
          </a:p>
        </p:txBody>
      </p:sp>
      <p:sp>
        <p:nvSpPr>
          <p:cNvPr id="435" name="Google Shape;435;p43"/>
          <p:cNvSpPr/>
          <p:nvPr/>
        </p:nvSpPr>
        <p:spPr>
          <a:xfrm>
            <a:off x="691486" y="1413338"/>
            <a:ext cx="2341081" cy="4492990"/>
          </a:xfrm>
          <a:prstGeom prst="roundRect">
            <a:avLst>
              <a:gd fmla="val 16667" name="adj"/>
            </a:avLst>
          </a:prstGeom>
          <a:solidFill>
            <a:srgbClr val="DAD1D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36" name="Google Shape;436;p43"/>
          <p:cNvSpPr txBox="1"/>
          <p:nvPr/>
        </p:nvSpPr>
        <p:spPr>
          <a:xfrm>
            <a:off x="827374" y="2490666"/>
            <a:ext cx="2068144" cy="370414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Illustrates the comparative financial contributions made by patients and their insurance providers</a:t>
            </a:r>
            <a:endParaRPr/>
          </a:p>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Poppins"/>
                <a:ea typeface="Poppins"/>
                <a:cs typeface="Poppins"/>
                <a:sym typeface="Poppins"/>
              </a:rPr>
              <a:t>Offers insights into which plans contribute most within the insurance provider</a:t>
            </a:r>
            <a:endParaRPr sz="1400">
              <a:solidFill>
                <a:schemeClr val="dk1"/>
              </a:solidFill>
              <a:latin typeface="Poppins"/>
              <a:ea typeface="Poppins"/>
              <a:cs typeface="Poppins"/>
              <a:sym typeface="Poppins"/>
            </a:endParaRPr>
          </a:p>
        </p:txBody>
      </p:sp>
      <p:sp>
        <p:nvSpPr>
          <p:cNvPr id="437" name="Google Shape;437;p43"/>
          <p:cNvSpPr txBox="1"/>
          <p:nvPr/>
        </p:nvSpPr>
        <p:spPr>
          <a:xfrm>
            <a:off x="4658747" y="6405925"/>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438" name="Google Shape;438;p43"/>
          <p:cNvPicPr preferRelativeResize="0"/>
          <p:nvPr/>
        </p:nvPicPr>
        <p:blipFill rotWithShape="1">
          <a:blip r:embed="rId4">
            <a:alphaModFix/>
          </a:blip>
          <a:srcRect b="0" l="0" r="0" t="0"/>
          <a:stretch/>
        </p:blipFill>
        <p:spPr>
          <a:xfrm>
            <a:off x="1491056" y="1581612"/>
            <a:ext cx="740780" cy="740780"/>
          </a:xfrm>
          <a:prstGeom prst="rect">
            <a:avLst/>
          </a:prstGeom>
          <a:noFill/>
          <a:ln>
            <a:noFill/>
          </a:ln>
        </p:spPr>
      </p:pic>
      <p:sp>
        <p:nvSpPr>
          <p:cNvPr id="439" name="Google Shape;439;p43"/>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4"/>
          <p:cNvSpPr txBox="1"/>
          <p:nvPr/>
        </p:nvSpPr>
        <p:spPr>
          <a:xfrm>
            <a:off x="1817916" y="2866713"/>
            <a:ext cx="708134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PREDICTIVE MODELLING</a:t>
            </a:r>
            <a:endParaRPr b="1" sz="4000">
              <a:solidFill>
                <a:schemeClr val="dk2"/>
              </a:solidFill>
              <a:latin typeface="Poppins"/>
              <a:ea typeface="Poppins"/>
              <a:cs typeface="Poppins"/>
              <a:sym typeface="Poppins"/>
            </a:endParaRPr>
          </a:p>
        </p:txBody>
      </p:sp>
      <p:pic>
        <p:nvPicPr>
          <p:cNvPr descr="A black background with white lines&#10;&#10;Description automatically generated" id="445" name="Google Shape;445;p44"/>
          <p:cNvPicPr preferRelativeResize="0"/>
          <p:nvPr/>
        </p:nvPicPr>
        <p:blipFill rotWithShape="1">
          <a:blip r:embed="rId3">
            <a:alphaModFix/>
          </a:blip>
          <a:srcRect b="0" l="0" r="0" t="0"/>
          <a:stretch/>
        </p:blipFill>
        <p:spPr>
          <a:xfrm>
            <a:off x="8252840" y="2249106"/>
            <a:ext cx="1962150" cy="1943100"/>
          </a:xfrm>
          <a:prstGeom prst="rect">
            <a:avLst/>
          </a:prstGeom>
          <a:noFill/>
          <a:ln>
            <a:noFill/>
          </a:ln>
        </p:spPr>
      </p:pic>
      <p:sp>
        <p:nvSpPr>
          <p:cNvPr id="446" name="Google Shape;446;p44"/>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Open Sans Light"/>
                <a:ea typeface="Open Sans Light"/>
                <a:cs typeface="Open Sans Light"/>
                <a:sym typeface="Open Sans Light"/>
              </a:rPr>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5"/>
          <p:cNvSpPr txBox="1"/>
          <p:nvPr/>
        </p:nvSpPr>
        <p:spPr>
          <a:xfrm>
            <a:off x="3419663" y="267409"/>
            <a:ext cx="502573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Predictive Modelling</a:t>
            </a:r>
            <a:endParaRPr/>
          </a:p>
        </p:txBody>
      </p:sp>
      <p:sp>
        <p:nvSpPr>
          <p:cNvPr id="452" name="Google Shape;452;p45"/>
          <p:cNvSpPr txBox="1"/>
          <p:nvPr/>
        </p:nvSpPr>
        <p:spPr>
          <a:xfrm>
            <a:off x="713979" y="1720840"/>
            <a:ext cx="1907302"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Regression models trained on 10,000 patient records to predict key operational metrics: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Poppins"/>
              <a:ea typeface="Poppins"/>
              <a:cs typeface="Poppins"/>
              <a:sym typeface="Poppi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Billing Amount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oppins"/>
                <a:ea typeface="Poppins"/>
                <a:cs typeface="Poppins"/>
                <a:sym typeface="Poppins"/>
              </a:rPr>
              <a:t>Length of Stay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Poppins"/>
              <a:ea typeface="Poppins"/>
              <a:cs typeface="Poppins"/>
              <a:sym typeface="Poppins"/>
            </a:endParaRPr>
          </a:p>
        </p:txBody>
      </p:sp>
      <p:sp>
        <p:nvSpPr>
          <p:cNvPr id="453" name="Google Shape;453;p45"/>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54" name="Google Shape;454;p45"/>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455" name="Google Shape;455;p45"/>
          <p:cNvPicPr preferRelativeResize="0"/>
          <p:nvPr/>
        </p:nvPicPr>
        <p:blipFill rotWithShape="1">
          <a:blip r:embed="rId3">
            <a:alphaModFix/>
          </a:blip>
          <a:srcRect b="0" l="0" r="0" t="1980"/>
          <a:stretch/>
        </p:blipFill>
        <p:spPr>
          <a:xfrm>
            <a:off x="2621281" y="1188720"/>
            <a:ext cx="9018478" cy="491508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46"/>
          <p:cNvPicPr preferRelativeResize="0"/>
          <p:nvPr/>
        </p:nvPicPr>
        <p:blipFill rotWithShape="1">
          <a:blip r:embed="rId3">
            <a:alphaModFix/>
          </a:blip>
          <a:srcRect b="0" l="0" r="0" t="0"/>
          <a:stretch/>
        </p:blipFill>
        <p:spPr>
          <a:xfrm>
            <a:off x="2119688" y="1048132"/>
            <a:ext cx="7625686" cy="5096945"/>
          </a:xfrm>
          <a:prstGeom prst="rect">
            <a:avLst/>
          </a:prstGeom>
          <a:noFill/>
          <a:ln cap="flat" cmpd="sng" w="9525">
            <a:solidFill>
              <a:schemeClr val="dk1"/>
            </a:solidFill>
            <a:prstDash val="solid"/>
            <a:round/>
            <a:headEnd len="sm" w="sm" type="none"/>
            <a:tailEnd len="sm" w="sm" type="none"/>
          </a:ln>
        </p:spPr>
      </p:pic>
      <p:sp>
        <p:nvSpPr>
          <p:cNvPr id="461" name="Google Shape;461;p46"/>
          <p:cNvSpPr txBox="1"/>
          <p:nvPr/>
        </p:nvSpPr>
        <p:spPr>
          <a:xfrm>
            <a:off x="3419663" y="267409"/>
            <a:ext cx="502573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Predictive Modelling</a:t>
            </a:r>
            <a:endParaRPr/>
          </a:p>
        </p:txBody>
      </p:sp>
      <p:sp>
        <p:nvSpPr>
          <p:cNvPr id="462" name="Google Shape;462;p46"/>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63" name="Google Shape;463;p46"/>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47"/>
          <p:cNvPicPr preferRelativeResize="0"/>
          <p:nvPr/>
        </p:nvPicPr>
        <p:blipFill rotWithShape="1">
          <a:blip r:embed="rId3">
            <a:alphaModFix/>
          </a:blip>
          <a:srcRect b="0" l="0" r="0" t="0"/>
          <a:stretch/>
        </p:blipFill>
        <p:spPr>
          <a:xfrm>
            <a:off x="3777410" y="3841959"/>
            <a:ext cx="4861981" cy="1356478"/>
          </a:xfrm>
          <a:prstGeom prst="rect">
            <a:avLst/>
          </a:prstGeom>
          <a:noFill/>
          <a:ln cap="flat" cmpd="sng" w="9525">
            <a:solidFill>
              <a:schemeClr val="dk1"/>
            </a:solidFill>
            <a:prstDash val="solid"/>
            <a:round/>
            <a:headEnd len="sm" w="sm" type="none"/>
            <a:tailEnd len="sm" w="sm" type="none"/>
          </a:ln>
        </p:spPr>
      </p:pic>
      <p:pic>
        <p:nvPicPr>
          <p:cNvPr id="469" name="Google Shape;469;p47"/>
          <p:cNvPicPr preferRelativeResize="0"/>
          <p:nvPr/>
        </p:nvPicPr>
        <p:blipFill rotWithShape="1">
          <a:blip r:embed="rId4">
            <a:alphaModFix/>
          </a:blip>
          <a:srcRect b="0" l="0" r="0" t="0"/>
          <a:stretch/>
        </p:blipFill>
        <p:spPr>
          <a:xfrm>
            <a:off x="2908655" y="1659563"/>
            <a:ext cx="6599492" cy="1844200"/>
          </a:xfrm>
          <a:prstGeom prst="rect">
            <a:avLst/>
          </a:prstGeom>
          <a:noFill/>
          <a:ln cap="flat" cmpd="sng" w="9525">
            <a:solidFill>
              <a:schemeClr val="dk1"/>
            </a:solidFill>
            <a:prstDash val="solid"/>
            <a:round/>
            <a:headEnd len="sm" w="sm" type="none"/>
            <a:tailEnd len="sm" w="sm" type="none"/>
          </a:ln>
        </p:spPr>
      </p:pic>
      <p:sp>
        <p:nvSpPr>
          <p:cNvPr id="470" name="Google Shape;470;p47"/>
          <p:cNvSpPr txBox="1"/>
          <p:nvPr/>
        </p:nvSpPr>
        <p:spPr>
          <a:xfrm>
            <a:off x="3419663" y="267409"/>
            <a:ext cx="502573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Predictive Modelling</a:t>
            </a:r>
            <a:endParaRPr/>
          </a:p>
        </p:txBody>
      </p:sp>
      <p:sp>
        <p:nvSpPr>
          <p:cNvPr id="471" name="Google Shape;471;p47"/>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72" name="Google Shape;472;p47"/>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8"/>
          <p:cNvSpPr txBox="1"/>
          <p:nvPr/>
        </p:nvSpPr>
        <p:spPr>
          <a:xfrm>
            <a:off x="1817916" y="2866713"/>
            <a:ext cx="708134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Poppins"/>
                <a:ea typeface="Poppins"/>
                <a:cs typeface="Poppins"/>
                <a:sym typeface="Poppins"/>
              </a:rPr>
              <a:t>BUSINESS IMPLICATIONS</a:t>
            </a:r>
            <a:endParaRPr b="1" sz="4000">
              <a:solidFill>
                <a:schemeClr val="dk2"/>
              </a:solidFill>
              <a:latin typeface="Poppins"/>
              <a:ea typeface="Poppins"/>
              <a:cs typeface="Poppins"/>
              <a:sym typeface="Poppins"/>
            </a:endParaRPr>
          </a:p>
        </p:txBody>
      </p:sp>
      <p:pic>
        <p:nvPicPr>
          <p:cNvPr descr="A person with headphones and arrows pointing to a gear&#10;&#10;Description automatically generated" id="478" name="Google Shape;478;p48"/>
          <p:cNvPicPr preferRelativeResize="0"/>
          <p:nvPr/>
        </p:nvPicPr>
        <p:blipFill rotWithShape="1">
          <a:blip r:embed="rId3">
            <a:alphaModFix/>
          </a:blip>
          <a:srcRect b="0" l="0" r="0" t="0"/>
          <a:stretch/>
        </p:blipFill>
        <p:spPr>
          <a:xfrm>
            <a:off x="8567005" y="2264560"/>
            <a:ext cx="1695450" cy="1628775"/>
          </a:xfrm>
          <a:prstGeom prst="rect">
            <a:avLst/>
          </a:prstGeom>
          <a:noFill/>
          <a:ln>
            <a:noFill/>
          </a:ln>
        </p:spPr>
      </p:pic>
      <p:sp>
        <p:nvSpPr>
          <p:cNvPr id="479" name="Google Shape;479;p48"/>
          <p:cNvSpPr txBox="1"/>
          <p:nvPr/>
        </p:nvSpPr>
        <p:spPr>
          <a:xfrm>
            <a:off x="4658747" y="6279469"/>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9"/>
          <p:cNvSpPr/>
          <p:nvPr/>
        </p:nvSpPr>
        <p:spPr>
          <a:xfrm>
            <a:off x="4881391" y="1507593"/>
            <a:ext cx="2248404" cy="2248405"/>
          </a:xfrm>
          <a:prstGeom prst="ellipse">
            <a:avLst/>
          </a:prstGeom>
          <a:solidFill>
            <a:schemeClr val="accent2"/>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485" name="Google Shape;485;p49"/>
          <p:cNvSpPr/>
          <p:nvPr/>
        </p:nvSpPr>
        <p:spPr>
          <a:xfrm>
            <a:off x="1432731" y="1494678"/>
            <a:ext cx="2248405" cy="2248405"/>
          </a:xfrm>
          <a:prstGeom prst="ellipse">
            <a:avLst/>
          </a:prstGeom>
          <a:solidFill>
            <a:schemeClr val="accent1"/>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486" name="Google Shape;486;p49"/>
          <p:cNvSpPr/>
          <p:nvPr/>
        </p:nvSpPr>
        <p:spPr>
          <a:xfrm>
            <a:off x="8368796" y="1468847"/>
            <a:ext cx="2248405" cy="2248405"/>
          </a:xfrm>
          <a:prstGeom prst="ellipse">
            <a:avLst/>
          </a:prstGeom>
          <a:solidFill>
            <a:schemeClr val="accent3"/>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487" name="Google Shape;487;p49"/>
          <p:cNvSpPr txBox="1"/>
          <p:nvPr/>
        </p:nvSpPr>
        <p:spPr>
          <a:xfrm>
            <a:off x="1864632" y="2870032"/>
            <a:ext cx="1534160"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Doctor Reputation</a:t>
            </a:r>
            <a:endParaRPr sz="2000">
              <a:solidFill>
                <a:schemeClr val="dk1"/>
              </a:solidFill>
              <a:latin typeface="Open Sans Light"/>
              <a:ea typeface="Open Sans Light"/>
              <a:cs typeface="Open Sans Light"/>
              <a:sym typeface="Open Sans Light"/>
            </a:endParaRPr>
          </a:p>
        </p:txBody>
      </p:sp>
      <p:sp>
        <p:nvSpPr>
          <p:cNvPr id="488" name="Google Shape;488;p49"/>
          <p:cNvSpPr txBox="1"/>
          <p:nvPr/>
        </p:nvSpPr>
        <p:spPr>
          <a:xfrm>
            <a:off x="4997504" y="2839254"/>
            <a:ext cx="2054924"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Estimate Expenses</a:t>
            </a:r>
            <a:endParaRPr b="1" sz="1600">
              <a:solidFill>
                <a:schemeClr val="lt1"/>
              </a:solidFill>
              <a:latin typeface="Poppins"/>
              <a:ea typeface="Poppins"/>
              <a:cs typeface="Poppins"/>
              <a:sym typeface="Poppins"/>
            </a:endParaRPr>
          </a:p>
        </p:txBody>
      </p:sp>
      <p:sp>
        <p:nvSpPr>
          <p:cNvPr id="489" name="Google Shape;489;p49"/>
          <p:cNvSpPr txBox="1"/>
          <p:nvPr/>
        </p:nvSpPr>
        <p:spPr>
          <a:xfrm>
            <a:off x="8425547" y="2623810"/>
            <a:ext cx="2177456"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City-Wise </a:t>
            </a:r>
            <a:endParaRPr/>
          </a:p>
          <a:p>
            <a:pPr indent="0" lvl="0" marL="0" marR="0" rtl="0" algn="ctr">
              <a:spcBef>
                <a:spcPts val="0"/>
              </a:spcBef>
              <a:spcAft>
                <a:spcPts val="0"/>
              </a:spcAft>
              <a:buNone/>
            </a:pPr>
            <a:r>
              <a:rPr b="1" lang="en-US" sz="1600">
                <a:solidFill>
                  <a:schemeClr val="lt1"/>
                </a:solidFill>
                <a:latin typeface="Poppins"/>
                <a:ea typeface="Poppins"/>
                <a:cs typeface="Poppins"/>
                <a:sym typeface="Poppins"/>
              </a:rPr>
              <a:t>Medical Conditions</a:t>
            </a:r>
            <a:endParaRPr/>
          </a:p>
        </p:txBody>
      </p:sp>
      <p:sp>
        <p:nvSpPr>
          <p:cNvPr id="490" name="Google Shape;490;p49"/>
          <p:cNvSpPr txBox="1"/>
          <p:nvPr/>
        </p:nvSpPr>
        <p:spPr>
          <a:xfrm>
            <a:off x="884213" y="4207159"/>
            <a:ext cx="3052800" cy="2432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Enables administrators to identify top-performing doctors and optimize workload distribution</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Helps patients select doctors based on recovery rates and treatment outcomes</a:t>
            </a:r>
            <a:endParaRPr/>
          </a:p>
          <a:p>
            <a:pPr indent="0" lvl="0" marL="0" marR="0" rtl="0" algn="l">
              <a:lnSpc>
                <a:spcPct val="145833"/>
              </a:lnSpc>
              <a:spcBef>
                <a:spcPts val="0"/>
              </a:spcBef>
              <a:spcAft>
                <a:spcPts val="0"/>
              </a:spcAft>
              <a:buNone/>
            </a:pPr>
            <a:r>
              <a:t/>
            </a:r>
            <a:endParaRPr b="1" sz="1200">
              <a:solidFill>
                <a:schemeClr val="dk1"/>
              </a:solidFill>
              <a:latin typeface="Poppins"/>
              <a:ea typeface="Poppins"/>
              <a:cs typeface="Poppins"/>
              <a:sym typeface="Poppins"/>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Healthcare Administrators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Patients</a:t>
            </a:r>
            <a:endParaRPr/>
          </a:p>
        </p:txBody>
      </p:sp>
      <p:sp>
        <p:nvSpPr>
          <p:cNvPr id="491" name="Google Shape;491;p49"/>
          <p:cNvSpPr txBox="1"/>
          <p:nvPr/>
        </p:nvSpPr>
        <p:spPr>
          <a:xfrm>
            <a:off x="7983623" y="4208211"/>
            <a:ext cx="3747678" cy="2847703"/>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Identifies geographic hotspots for specific medical conditions </a:t>
            </a:r>
            <a:endParaRPr sz="1800">
              <a:solidFill>
                <a:schemeClr val="dk1"/>
              </a:solidFill>
              <a:latin typeface="Open Sans Light"/>
              <a:ea typeface="Open Sans Light"/>
              <a:cs typeface="Open Sans Light"/>
              <a:sym typeface="Open Sans Light"/>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Empowers policymakers to design targeted preventative care initiatives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Supports hospital infrastructure and capacity planning by condition type</a:t>
            </a:r>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Clinicians and Healthcare Providers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Government agencies and policymakers</a:t>
            </a:r>
            <a:endParaRPr/>
          </a:p>
          <a:p>
            <a:pPr indent="-95250" lvl="0" marL="171450" marR="0" rtl="0" algn="l">
              <a:lnSpc>
                <a:spcPct val="145833"/>
              </a:lnSpc>
              <a:spcBef>
                <a:spcPts val="0"/>
              </a:spcBef>
              <a:spcAft>
                <a:spcPts val="0"/>
              </a:spcAft>
              <a:buClr>
                <a:schemeClr val="dk1"/>
              </a:buClr>
              <a:buSzPts val="1200"/>
              <a:buFont typeface="Arial"/>
              <a:buNone/>
            </a:pPr>
            <a:r>
              <a:t/>
            </a:r>
            <a:endParaRPr sz="1200">
              <a:solidFill>
                <a:schemeClr val="dk1"/>
              </a:solidFill>
              <a:latin typeface="Poppins"/>
              <a:ea typeface="Poppins"/>
              <a:cs typeface="Poppins"/>
              <a:sym typeface="Poppins"/>
            </a:endParaRPr>
          </a:p>
          <a:p>
            <a:pPr indent="0" lvl="0" marL="0" marR="0" rtl="0" algn="l">
              <a:lnSpc>
                <a:spcPct val="145833"/>
              </a:lnSpc>
              <a:spcBef>
                <a:spcPts val="0"/>
              </a:spcBef>
              <a:spcAft>
                <a:spcPts val="0"/>
              </a:spcAft>
              <a:buNone/>
            </a:pPr>
            <a:r>
              <a:t/>
            </a:r>
            <a:endParaRPr sz="1200">
              <a:solidFill>
                <a:schemeClr val="dk1"/>
              </a:solidFill>
              <a:latin typeface="Poppins"/>
              <a:ea typeface="Poppins"/>
              <a:cs typeface="Poppins"/>
              <a:sym typeface="Poppins"/>
            </a:endParaRPr>
          </a:p>
        </p:txBody>
      </p:sp>
      <p:sp>
        <p:nvSpPr>
          <p:cNvPr id="492" name="Google Shape;492;p49"/>
          <p:cNvSpPr txBox="1"/>
          <p:nvPr/>
        </p:nvSpPr>
        <p:spPr>
          <a:xfrm>
            <a:off x="3398792" y="291270"/>
            <a:ext cx="53944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Business Implications</a:t>
            </a:r>
            <a:endParaRPr sz="1800">
              <a:solidFill>
                <a:schemeClr val="dk1"/>
              </a:solidFill>
              <a:latin typeface="Open Sans Light"/>
              <a:ea typeface="Open Sans Light"/>
              <a:cs typeface="Open Sans Light"/>
              <a:sym typeface="Open Sans Light"/>
            </a:endParaRPr>
          </a:p>
        </p:txBody>
      </p:sp>
      <p:sp>
        <p:nvSpPr>
          <p:cNvPr id="493" name="Google Shape;493;p49"/>
          <p:cNvSpPr txBox="1"/>
          <p:nvPr/>
        </p:nvSpPr>
        <p:spPr>
          <a:xfrm>
            <a:off x="4229854" y="4207159"/>
            <a:ext cx="3729993" cy="2386038"/>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Enables patients to estimate billing costs based on condition and insurance coverage</a:t>
            </a:r>
            <a:endParaRPr sz="1800">
              <a:solidFill>
                <a:schemeClr val="dk1"/>
              </a:solidFill>
              <a:latin typeface="Open Sans Light"/>
              <a:ea typeface="Open Sans Light"/>
              <a:cs typeface="Open Sans Light"/>
              <a:sym typeface="Open Sans Light"/>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Gives hospital management revenue insights segmented by condition and demographics  </a:t>
            </a:r>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Patients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Hospital Management </a:t>
            </a:r>
            <a:endParaRPr sz="1800">
              <a:solidFill>
                <a:schemeClr val="dk1"/>
              </a:solidFill>
              <a:latin typeface="Open Sans Light"/>
              <a:ea typeface="Open Sans Light"/>
              <a:cs typeface="Open Sans Light"/>
              <a:sym typeface="Open Sans Light"/>
            </a:endParaRPr>
          </a:p>
          <a:p>
            <a:pPr indent="-95250" lvl="0" marL="171450" marR="0" rtl="0" algn="l">
              <a:lnSpc>
                <a:spcPct val="145833"/>
              </a:lnSpc>
              <a:spcBef>
                <a:spcPts val="0"/>
              </a:spcBef>
              <a:spcAft>
                <a:spcPts val="0"/>
              </a:spcAft>
              <a:buClr>
                <a:schemeClr val="dk1"/>
              </a:buClr>
              <a:buSzPts val="1200"/>
              <a:buFont typeface="Arial"/>
              <a:buNone/>
            </a:pPr>
            <a:r>
              <a:t/>
            </a:r>
            <a:endParaRPr sz="1200">
              <a:solidFill>
                <a:schemeClr val="dk1"/>
              </a:solidFill>
              <a:latin typeface="Poppins"/>
              <a:ea typeface="Poppins"/>
              <a:cs typeface="Poppins"/>
              <a:sym typeface="Poppins"/>
            </a:endParaRPr>
          </a:p>
          <a:p>
            <a:pPr indent="0" lvl="0" marL="0" marR="0" rtl="0" algn="l">
              <a:lnSpc>
                <a:spcPct val="145833"/>
              </a:lnSpc>
              <a:spcBef>
                <a:spcPts val="0"/>
              </a:spcBef>
              <a:spcAft>
                <a:spcPts val="0"/>
              </a:spcAft>
              <a:buNone/>
            </a:pPr>
            <a:r>
              <a:t/>
            </a:r>
            <a:endParaRPr sz="1200">
              <a:solidFill>
                <a:schemeClr val="dk1"/>
              </a:solidFill>
              <a:latin typeface="Poppins"/>
              <a:ea typeface="Poppins"/>
              <a:cs typeface="Poppins"/>
              <a:sym typeface="Poppins"/>
            </a:endParaRPr>
          </a:p>
        </p:txBody>
      </p:sp>
      <p:sp>
        <p:nvSpPr>
          <p:cNvPr id="494" name="Google Shape;494;p49"/>
          <p:cNvSpPr txBox="1"/>
          <p:nvPr/>
        </p:nvSpPr>
        <p:spPr>
          <a:xfrm>
            <a:off x="4271290" y="6460282"/>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495" name="Google Shape;495;p49"/>
          <p:cNvSpPr txBox="1"/>
          <p:nvPr/>
        </p:nvSpPr>
        <p:spPr>
          <a:xfrm>
            <a:off x="11727180" y="6279469"/>
            <a:ext cx="3861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descr="Stethoscope with solid fill" id="496" name="Google Shape;496;p49"/>
          <p:cNvPicPr preferRelativeResize="0"/>
          <p:nvPr/>
        </p:nvPicPr>
        <p:blipFill rotWithShape="1">
          <a:blip r:embed="rId3">
            <a:alphaModFix/>
          </a:blip>
          <a:srcRect b="0" l="0" r="0" t="0"/>
          <a:stretch/>
        </p:blipFill>
        <p:spPr>
          <a:xfrm>
            <a:off x="2107214" y="1895911"/>
            <a:ext cx="914400" cy="914400"/>
          </a:xfrm>
          <a:prstGeom prst="rect">
            <a:avLst/>
          </a:prstGeom>
          <a:noFill/>
          <a:ln>
            <a:noFill/>
          </a:ln>
        </p:spPr>
      </p:pic>
      <p:pic>
        <p:nvPicPr>
          <p:cNvPr descr="Dollar with solid fill" id="497" name="Google Shape;497;p49"/>
          <p:cNvPicPr preferRelativeResize="0"/>
          <p:nvPr/>
        </p:nvPicPr>
        <p:blipFill rotWithShape="1">
          <a:blip r:embed="rId4">
            <a:alphaModFix/>
          </a:blip>
          <a:srcRect b="0" l="0" r="0" t="0"/>
          <a:stretch/>
        </p:blipFill>
        <p:spPr>
          <a:xfrm>
            <a:off x="5465441" y="1908826"/>
            <a:ext cx="1006998" cy="914400"/>
          </a:xfrm>
          <a:prstGeom prst="rect">
            <a:avLst/>
          </a:prstGeom>
          <a:noFill/>
          <a:ln>
            <a:noFill/>
          </a:ln>
        </p:spPr>
      </p:pic>
      <p:pic>
        <p:nvPicPr>
          <p:cNvPr descr="City with solid fill" id="498" name="Google Shape;498;p49"/>
          <p:cNvPicPr preferRelativeResize="0"/>
          <p:nvPr/>
        </p:nvPicPr>
        <p:blipFill rotWithShape="1">
          <a:blip r:embed="rId5">
            <a:alphaModFix/>
          </a:blip>
          <a:srcRect b="0" l="0" r="0" t="0"/>
          <a:stretch/>
        </p:blipFill>
        <p:spPr>
          <a:xfrm>
            <a:off x="9035673" y="1839455"/>
            <a:ext cx="914400" cy="914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0"/>
          <p:cNvSpPr/>
          <p:nvPr/>
        </p:nvSpPr>
        <p:spPr>
          <a:xfrm>
            <a:off x="4971798" y="1468847"/>
            <a:ext cx="2248404" cy="2248405"/>
          </a:xfrm>
          <a:prstGeom prst="ellipse">
            <a:avLst/>
          </a:prstGeom>
          <a:solidFill>
            <a:schemeClr val="accent2"/>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504" name="Google Shape;504;p50"/>
          <p:cNvSpPr/>
          <p:nvPr/>
        </p:nvSpPr>
        <p:spPr>
          <a:xfrm>
            <a:off x="1574799" y="1417186"/>
            <a:ext cx="2248405" cy="2248405"/>
          </a:xfrm>
          <a:prstGeom prst="ellipse">
            <a:avLst/>
          </a:prstGeom>
          <a:solidFill>
            <a:schemeClr val="accent1"/>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505" name="Google Shape;505;p50"/>
          <p:cNvSpPr/>
          <p:nvPr/>
        </p:nvSpPr>
        <p:spPr>
          <a:xfrm>
            <a:off x="8485034" y="1455932"/>
            <a:ext cx="2248405" cy="2248405"/>
          </a:xfrm>
          <a:prstGeom prst="ellipse">
            <a:avLst/>
          </a:prstGeom>
          <a:solidFill>
            <a:schemeClr val="accent3"/>
          </a:solid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t/>
            </a:r>
            <a:endParaRPr sz="2813">
              <a:solidFill>
                <a:srgbClr val="FFFFFF"/>
              </a:solidFill>
              <a:latin typeface="Lato Light"/>
              <a:ea typeface="Lato Light"/>
              <a:cs typeface="Lato Light"/>
              <a:sym typeface="Lato Light"/>
            </a:endParaRPr>
          </a:p>
        </p:txBody>
      </p:sp>
      <p:sp>
        <p:nvSpPr>
          <p:cNvPr id="506" name="Google Shape;506;p50"/>
          <p:cNvSpPr txBox="1"/>
          <p:nvPr/>
        </p:nvSpPr>
        <p:spPr>
          <a:xfrm>
            <a:off x="1931524" y="2712634"/>
            <a:ext cx="1534160" cy="738664"/>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400">
                <a:solidFill>
                  <a:schemeClr val="lt1"/>
                </a:solidFill>
                <a:latin typeface="Poppins"/>
                <a:ea typeface="Poppins"/>
                <a:cs typeface="Poppins"/>
                <a:sym typeface="Poppins"/>
              </a:rPr>
              <a:t>Relationship Between Medical Attributes</a:t>
            </a:r>
            <a:endParaRPr sz="1800">
              <a:solidFill>
                <a:schemeClr val="dk1"/>
              </a:solidFill>
              <a:latin typeface="Open Sans Light"/>
              <a:ea typeface="Open Sans Light"/>
              <a:cs typeface="Open Sans Light"/>
              <a:sym typeface="Open Sans Light"/>
            </a:endParaRPr>
          </a:p>
        </p:txBody>
      </p:sp>
      <p:sp>
        <p:nvSpPr>
          <p:cNvPr id="507" name="Google Shape;507;p50"/>
          <p:cNvSpPr txBox="1"/>
          <p:nvPr/>
        </p:nvSpPr>
        <p:spPr>
          <a:xfrm>
            <a:off x="5068536" y="2757626"/>
            <a:ext cx="2054924"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Resource  </a:t>
            </a:r>
            <a:endParaRPr/>
          </a:p>
          <a:p>
            <a:pPr indent="0" lvl="0" marL="0" marR="0" rtl="0" algn="ctr">
              <a:spcBef>
                <a:spcPts val="0"/>
              </a:spcBef>
              <a:spcAft>
                <a:spcPts val="0"/>
              </a:spcAft>
              <a:buNone/>
            </a:pPr>
            <a:r>
              <a:rPr b="1" lang="en-US" sz="1600">
                <a:solidFill>
                  <a:schemeClr val="lt1"/>
                </a:solidFill>
                <a:latin typeface="Poppins"/>
                <a:ea typeface="Poppins"/>
                <a:cs typeface="Poppins"/>
                <a:sym typeface="Poppins"/>
              </a:rPr>
              <a:t>Planning</a:t>
            </a:r>
            <a:endParaRPr b="1" sz="1600">
              <a:solidFill>
                <a:schemeClr val="lt1"/>
              </a:solidFill>
              <a:latin typeface="Poppins"/>
              <a:ea typeface="Poppins"/>
              <a:cs typeface="Poppins"/>
              <a:sym typeface="Poppins"/>
            </a:endParaRPr>
          </a:p>
        </p:txBody>
      </p:sp>
      <p:sp>
        <p:nvSpPr>
          <p:cNvPr id="508" name="Google Shape;508;p50"/>
          <p:cNvSpPr txBox="1"/>
          <p:nvPr/>
        </p:nvSpPr>
        <p:spPr>
          <a:xfrm>
            <a:off x="8527046" y="2620988"/>
            <a:ext cx="2177456" cy="5847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Insurance Provider Analysis</a:t>
            </a:r>
            <a:endParaRPr/>
          </a:p>
        </p:txBody>
      </p:sp>
      <p:sp>
        <p:nvSpPr>
          <p:cNvPr id="509" name="Google Shape;509;p50"/>
          <p:cNvSpPr txBox="1"/>
          <p:nvPr/>
        </p:nvSpPr>
        <p:spPr>
          <a:xfrm>
            <a:off x="723740" y="4039262"/>
            <a:ext cx="3671503" cy="215520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Reveals correlations between demographics and medical conditions to guide targeted preventative care strategies</a:t>
            </a:r>
            <a:endParaRPr sz="1200">
              <a:solidFill>
                <a:schemeClr val="dk1"/>
              </a:solidFill>
              <a:latin typeface="Poppins"/>
              <a:ea typeface="Poppins"/>
              <a:cs typeface="Poppins"/>
              <a:sym typeface="Poppins"/>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Helps clinicians identify trends and educate patients on risk factors</a:t>
            </a:r>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Patients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Doctors/Medical Staffs</a:t>
            </a:r>
            <a:endParaRPr/>
          </a:p>
        </p:txBody>
      </p:sp>
      <p:sp>
        <p:nvSpPr>
          <p:cNvPr id="510" name="Google Shape;510;p50"/>
          <p:cNvSpPr txBox="1"/>
          <p:nvPr/>
        </p:nvSpPr>
        <p:spPr>
          <a:xfrm>
            <a:off x="8022369" y="4040314"/>
            <a:ext cx="3415346" cy="2386038"/>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Provides insurance providers expense visibility by location and condition</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Directly informs the design of competitive and targeted healthcare plans</a:t>
            </a:r>
            <a:endParaRPr/>
          </a:p>
          <a:p>
            <a:pPr indent="-95250" lvl="0" marL="171450" marR="0" rtl="0" algn="l">
              <a:lnSpc>
                <a:spcPct val="145833"/>
              </a:lnSpc>
              <a:spcBef>
                <a:spcPts val="0"/>
              </a:spcBef>
              <a:spcAft>
                <a:spcPts val="0"/>
              </a:spcAft>
              <a:buClr>
                <a:schemeClr val="dk1"/>
              </a:buClr>
              <a:buSzPts val="1200"/>
              <a:buFont typeface="Arial"/>
              <a:buNone/>
            </a:pPr>
            <a:r>
              <a:t/>
            </a:r>
            <a:endParaRPr sz="1200">
              <a:solidFill>
                <a:schemeClr val="dk1"/>
              </a:solidFill>
              <a:latin typeface="Poppins"/>
              <a:ea typeface="Poppins"/>
              <a:cs typeface="Poppins"/>
              <a:sym typeface="Poppins"/>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Insurance Providers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Patients</a:t>
            </a:r>
            <a:endParaRPr sz="1800">
              <a:solidFill>
                <a:schemeClr val="dk1"/>
              </a:solidFill>
              <a:latin typeface="Open Sans Light"/>
              <a:ea typeface="Open Sans Light"/>
              <a:cs typeface="Open Sans Light"/>
              <a:sym typeface="Open Sans Light"/>
            </a:endParaRPr>
          </a:p>
          <a:p>
            <a:pPr indent="-95250" lvl="0" marL="171450" marR="0" rtl="0" algn="l">
              <a:lnSpc>
                <a:spcPct val="145833"/>
              </a:lnSpc>
              <a:spcBef>
                <a:spcPts val="0"/>
              </a:spcBef>
              <a:spcAft>
                <a:spcPts val="0"/>
              </a:spcAft>
              <a:buClr>
                <a:schemeClr val="dk1"/>
              </a:buClr>
              <a:buSzPts val="1200"/>
              <a:buFont typeface="Arial"/>
              <a:buNone/>
            </a:pPr>
            <a:r>
              <a:t/>
            </a:r>
            <a:endParaRPr b="1" sz="1200">
              <a:solidFill>
                <a:schemeClr val="dk1"/>
              </a:solidFill>
              <a:latin typeface="Poppins"/>
              <a:ea typeface="Poppins"/>
              <a:cs typeface="Poppins"/>
              <a:sym typeface="Poppins"/>
            </a:endParaRPr>
          </a:p>
        </p:txBody>
      </p:sp>
      <p:sp>
        <p:nvSpPr>
          <p:cNvPr id="511" name="Google Shape;511;p50"/>
          <p:cNvSpPr txBox="1"/>
          <p:nvPr/>
        </p:nvSpPr>
        <p:spPr>
          <a:xfrm>
            <a:off x="3398792" y="291270"/>
            <a:ext cx="539442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2"/>
                </a:solidFill>
                <a:latin typeface="Poppins"/>
                <a:ea typeface="Poppins"/>
                <a:cs typeface="Poppins"/>
                <a:sym typeface="Poppins"/>
              </a:rPr>
              <a:t>Business Implications</a:t>
            </a:r>
            <a:endParaRPr sz="1800">
              <a:solidFill>
                <a:schemeClr val="dk1"/>
              </a:solidFill>
              <a:latin typeface="Open Sans Light"/>
              <a:ea typeface="Open Sans Light"/>
              <a:cs typeface="Open Sans Light"/>
              <a:sym typeface="Open Sans Light"/>
            </a:endParaRPr>
          </a:p>
        </p:txBody>
      </p:sp>
      <p:sp>
        <p:nvSpPr>
          <p:cNvPr id="512" name="Google Shape;512;p50"/>
          <p:cNvSpPr txBox="1"/>
          <p:nvPr/>
        </p:nvSpPr>
        <p:spPr>
          <a:xfrm>
            <a:off x="4395006" y="4039261"/>
            <a:ext cx="3618900" cy="2432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Patient volume trends reveal seasonal patterns for proactive resource planning</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Seasonal variations inform staffing, financial planning, and operational efficiency </a:t>
            </a:r>
            <a:endParaRPr/>
          </a:p>
          <a:p>
            <a:pPr indent="0" lvl="0" marL="0" marR="0" rtl="0" algn="l">
              <a:lnSpc>
                <a:spcPct val="145833"/>
              </a:lnSpc>
              <a:spcBef>
                <a:spcPts val="0"/>
              </a:spcBef>
              <a:spcAft>
                <a:spcPts val="0"/>
              </a:spcAft>
              <a:buNone/>
            </a:pPr>
            <a:r>
              <a:t/>
            </a:r>
            <a:endParaRPr b="1" sz="1200">
              <a:solidFill>
                <a:schemeClr val="dk1"/>
              </a:solidFill>
              <a:latin typeface="Poppins"/>
              <a:ea typeface="Poppins"/>
              <a:cs typeface="Poppins"/>
              <a:sym typeface="Poppins"/>
            </a:endParaRPr>
          </a:p>
          <a:p>
            <a:pPr indent="0" lvl="0" marL="0" marR="0" rtl="0" algn="l">
              <a:lnSpc>
                <a:spcPct val="145833"/>
              </a:lnSpc>
              <a:spcBef>
                <a:spcPts val="0"/>
              </a:spcBef>
              <a:spcAft>
                <a:spcPts val="0"/>
              </a:spcAft>
              <a:buNone/>
            </a:pPr>
            <a:r>
              <a:rPr b="1" lang="en-US" sz="1200">
                <a:solidFill>
                  <a:schemeClr val="dk1"/>
                </a:solidFill>
                <a:latin typeface="Poppins"/>
                <a:ea typeface="Poppins"/>
                <a:cs typeface="Poppins"/>
                <a:sym typeface="Poppins"/>
              </a:rPr>
              <a:t>STAKEHOLDERS: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Insurance Providers</a:t>
            </a:r>
            <a:endParaRPr/>
          </a:p>
          <a:p>
            <a:pPr indent="-171450" lvl="0" marL="171450" marR="0" rtl="0" algn="l">
              <a:lnSpc>
                <a:spcPct val="145833"/>
              </a:lnSpc>
              <a:spcBef>
                <a:spcPts val="0"/>
              </a:spcBef>
              <a:spcAft>
                <a:spcPts val="0"/>
              </a:spcAft>
              <a:buClr>
                <a:schemeClr val="dk1"/>
              </a:buClr>
              <a:buSzPts val="1200"/>
              <a:buFont typeface="Arial"/>
              <a:buChar char="•"/>
            </a:pPr>
            <a:r>
              <a:rPr lang="en-US" sz="1200">
                <a:solidFill>
                  <a:schemeClr val="dk1"/>
                </a:solidFill>
                <a:latin typeface="Poppins"/>
                <a:ea typeface="Poppins"/>
                <a:cs typeface="Poppins"/>
                <a:sym typeface="Poppins"/>
              </a:rPr>
              <a:t>Operations Managers</a:t>
            </a:r>
            <a:endParaRPr/>
          </a:p>
        </p:txBody>
      </p:sp>
      <p:sp>
        <p:nvSpPr>
          <p:cNvPr id="513" name="Google Shape;513;p50"/>
          <p:cNvSpPr txBox="1"/>
          <p:nvPr/>
        </p:nvSpPr>
        <p:spPr>
          <a:xfrm>
            <a:off x="4658747" y="6486113"/>
            <a:ext cx="287450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514" name="Google Shape;514;p50"/>
          <p:cNvSpPr txBox="1"/>
          <p:nvPr/>
        </p:nvSpPr>
        <p:spPr>
          <a:xfrm>
            <a:off x="11727180" y="6279469"/>
            <a:ext cx="3959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descr="Transfer with solid fill" id="515" name="Google Shape;515;p50"/>
          <p:cNvPicPr preferRelativeResize="0"/>
          <p:nvPr/>
        </p:nvPicPr>
        <p:blipFill rotWithShape="1">
          <a:blip r:embed="rId3">
            <a:alphaModFix/>
          </a:blip>
          <a:srcRect b="0" l="0" r="0" t="0"/>
          <a:stretch/>
        </p:blipFill>
        <p:spPr>
          <a:xfrm>
            <a:off x="2241927" y="1816369"/>
            <a:ext cx="914400" cy="914400"/>
          </a:xfrm>
          <a:prstGeom prst="rect">
            <a:avLst/>
          </a:prstGeom>
          <a:noFill/>
          <a:ln>
            <a:noFill/>
          </a:ln>
        </p:spPr>
      </p:pic>
      <p:pic>
        <p:nvPicPr>
          <p:cNvPr descr="Coins with solid fill" id="516" name="Google Shape;516;p50"/>
          <p:cNvPicPr preferRelativeResize="0"/>
          <p:nvPr/>
        </p:nvPicPr>
        <p:blipFill rotWithShape="1">
          <a:blip r:embed="rId4">
            <a:alphaModFix/>
          </a:blip>
          <a:srcRect b="0" l="0" r="0" t="0"/>
          <a:stretch/>
        </p:blipFill>
        <p:spPr>
          <a:xfrm>
            <a:off x="5638800" y="1868030"/>
            <a:ext cx="914400" cy="914400"/>
          </a:xfrm>
          <a:prstGeom prst="rect">
            <a:avLst/>
          </a:prstGeom>
          <a:noFill/>
          <a:ln>
            <a:noFill/>
          </a:ln>
        </p:spPr>
      </p:pic>
      <p:pic>
        <p:nvPicPr>
          <p:cNvPr descr="Heartbeat with solid fill" id="517" name="Google Shape;517;p50"/>
          <p:cNvPicPr preferRelativeResize="0"/>
          <p:nvPr/>
        </p:nvPicPr>
        <p:blipFill rotWithShape="1">
          <a:blip r:embed="rId5">
            <a:alphaModFix/>
          </a:blip>
          <a:srcRect b="0" l="0" r="0" t="0"/>
          <a:stretch/>
        </p:blipFill>
        <p:spPr>
          <a:xfrm>
            <a:off x="9151911" y="1855115"/>
            <a:ext cx="914400" cy="914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cxnSp>
        <p:nvCxnSpPr>
          <p:cNvPr id="523" name="Google Shape;523;p51"/>
          <p:cNvCxnSpPr/>
          <p:nvPr/>
        </p:nvCxnSpPr>
        <p:spPr>
          <a:xfrm flipH="1">
            <a:off x="0" y="0"/>
            <a:ext cx="3119718" cy="68580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4" name="Google Shape;524;p51"/>
          <p:cNvCxnSpPr/>
          <p:nvPr/>
        </p:nvCxnSpPr>
        <p:spPr>
          <a:xfrm flipH="1">
            <a:off x="0" y="0"/>
            <a:ext cx="903768" cy="65436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5" name="Google Shape;525;p51"/>
          <p:cNvCxnSpPr/>
          <p:nvPr/>
        </p:nvCxnSpPr>
        <p:spPr>
          <a:xfrm rot="10800000">
            <a:off x="-42863" y="5791200"/>
            <a:ext cx="6286501" cy="1066801"/>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6" name="Google Shape;526;p51"/>
          <p:cNvCxnSpPr/>
          <p:nvPr/>
        </p:nvCxnSpPr>
        <p:spPr>
          <a:xfrm flipH="1">
            <a:off x="8462964" y="5848350"/>
            <a:ext cx="3729036" cy="100965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7" name="Google Shape;527;p51"/>
          <p:cNvCxnSpPr/>
          <p:nvPr/>
        </p:nvCxnSpPr>
        <p:spPr>
          <a:xfrm flipH="1">
            <a:off x="11543158" y="1647825"/>
            <a:ext cx="648842" cy="52101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8" name="Google Shape;528;p51"/>
          <p:cNvCxnSpPr/>
          <p:nvPr/>
        </p:nvCxnSpPr>
        <p:spPr>
          <a:xfrm rot="10800000">
            <a:off x="10781554" y="0"/>
            <a:ext cx="1410446" cy="425834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529" name="Google Shape;529;p51"/>
          <p:cNvCxnSpPr/>
          <p:nvPr/>
        </p:nvCxnSpPr>
        <p:spPr>
          <a:xfrm rot="10800000">
            <a:off x="6529388" y="-4763"/>
            <a:ext cx="5662612" cy="931975"/>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530" name="Google Shape;530;p5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pic>
        <p:nvPicPr>
          <p:cNvPr descr="People holding hands" id="531" name="Google Shape;531;p51"/>
          <p:cNvPicPr preferRelativeResize="0"/>
          <p:nvPr>
            <p:ph idx="2" type="pic"/>
          </p:nvPr>
        </p:nvPicPr>
        <p:blipFill rotWithShape="1">
          <a:blip r:embed="rId3">
            <a:alphaModFix/>
          </a:blip>
          <a:srcRect b="7865" l="0" r="0" t="7865"/>
          <a:stretch/>
        </p:blipFill>
        <p:spPr>
          <a:xfrm>
            <a:off x="-1154" y="10"/>
            <a:ext cx="12192000" cy="6857990"/>
          </a:xfrm>
          <a:prstGeom prst="rect">
            <a:avLst/>
          </a:prstGeom>
          <a:solidFill>
            <a:schemeClr val="dk2"/>
          </a:solidFill>
          <a:ln>
            <a:noFill/>
          </a:ln>
        </p:spPr>
      </p:pic>
      <p:sp>
        <p:nvSpPr>
          <p:cNvPr id="532" name="Google Shape;532;p51"/>
          <p:cNvSpPr/>
          <p:nvPr/>
        </p:nvSpPr>
        <p:spPr>
          <a:xfrm>
            <a:off x="370" y="696037"/>
            <a:ext cx="12188952" cy="5172500"/>
          </a:xfrm>
          <a:prstGeom prst="rect">
            <a:avLst/>
          </a:prstGeom>
          <a:gradFill>
            <a:gsLst>
              <a:gs pos="0">
                <a:srgbClr val="000000">
                  <a:alpha val="0"/>
                </a:srgbClr>
              </a:gs>
              <a:gs pos="42000">
                <a:srgbClr val="000000">
                  <a:alpha val="23137"/>
                </a:srgbClr>
              </a:gs>
              <a:gs pos="71000">
                <a:srgbClr val="000000">
                  <a:alpha val="23921"/>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533" name="Google Shape;533;p51"/>
          <p:cNvSpPr txBox="1"/>
          <p:nvPr>
            <p:ph type="title"/>
          </p:nvPr>
        </p:nvSpPr>
        <p:spPr>
          <a:xfrm>
            <a:off x="1665372" y="1651163"/>
            <a:ext cx="9144000" cy="261194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600"/>
              <a:buFont typeface="Poppins"/>
              <a:buNone/>
            </a:pPr>
            <a:r>
              <a:rPr b="1" i="0" lang="en-US" sz="6600" cap="none">
                <a:solidFill>
                  <a:srgbClr val="FFFFFF"/>
                </a:solidFill>
                <a:latin typeface="Poppins"/>
                <a:ea typeface="Poppins"/>
                <a:cs typeface="Poppins"/>
                <a:sym typeface="Poppins"/>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gleLinesVTI">
  <a:themeElements>
    <a:clrScheme name="Custom 34">
      <a:dk1>
        <a:srgbClr val="000000"/>
      </a:dk1>
      <a:lt1>
        <a:srgbClr val="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